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66" r:id="rId5"/>
    <p:sldId id="264" r:id="rId6"/>
    <p:sldId id="265" r:id="rId7"/>
    <p:sldId id="270" r:id="rId8"/>
    <p:sldId id="303" r:id="rId9"/>
    <p:sldId id="302" r:id="rId10"/>
    <p:sldId id="291" r:id="rId11"/>
    <p:sldId id="300" r:id="rId12"/>
    <p:sldId id="273" r:id="rId13"/>
    <p:sldId id="274" r:id="rId14"/>
    <p:sldId id="306" r:id="rId15"/>
    <p:sldId id="305" r:id="rId16"/>
    <p:sldId id="304" r:id="rId17"/>
    <p:sldId id="276" r:id="rId18"/>
    <p:sldId id="307" r:id="rId19"/>
    <p:sldId id="277" r:id="rId20"/>
    <p:sldId id="278" r:id="rId21"/>
    <p:sldId id="290" r:id="rId22"/>
    <p:sldId id="279" r:id="rId23"/>
    <p:sldId id="293" r:id="rId24"/>
    <p:sldId id="280" r:id="rId25"/>
    <p:sldId id="292" r:id="rId26"/>
    <p:sldId id="281" r:id="rId27"/>
    <p:sldId id="296" r:id="rId28"/>
    <p:sldId id="295" r:id="rId29"/>
    <p:sldId id="282" r:id="rId30"/>
    <p:sldId id="283" r:id="rId31"/>
    <p:sldId id="286" r:id="rId3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2760-8C40-C92C-90B0-578F17FE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F68E8-876D-2171-8FD6-97F252949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A8056-0763-8BF2-8E09-36E85976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09726-5568-7AF8-5D9C-163EDBCAF1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4954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A6DF-57A1-0E77-EB7E-199D4672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7BFE2-9D13-B9EB-4E14-17F75C8E0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4688D-CAE4-92A2-6B23-BA44CD305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A349-0EAA-F4BF-2949-CBA3C5A99D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4425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9801-5297-37C6-B802-AE975498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89ECE-05E1-73CC-D4B8-D551D3A86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25E97-E9B3-EC96-D3A0-F2D2FEDBA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1E771-3130-DFEC-F550-E42F9F15E7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7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FFFB-FCA4-C877-0BBA-6A42D39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09489-B021-9334-B91A-B8EEDDBCE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6F2A0-0DAF-8A46-3837-A2F0294AE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35FC9-242F-0E95-683F-C998B91379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028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7F87-4A33-D87F-0033-198980E2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4B2A3-1779-444F-5AC4-A625DA941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23704-3CCC-92A8-B78A-9467562F3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EBB40-57FF-078B-807E-FFE62C61BC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3328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55A6-594C-2EF9-CEE2-33D3BB3C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A58C7-1594-ECC8-10E0-2AAD7EA3C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B0C22-CF64-036A-6906-85F8BF455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40BC0-44F6-324C-95BF-46255462A9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398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13A4-193C-BC49-B72D-D086B5D8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52D1F-5DBC-0EDD-3A32-DAA10536D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55EA7-3AC9-913A-4329-F2FA6B48C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5021C-110A-5169-6503-F7DB251661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992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16EC-FF60-8D7B-67D5-97453E5C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FAC15-0414-53F2-C65D-9BB0D70CF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26D7B-8B89-673B-429E-63A528EBD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871EF-3ECC-24D2-3170-7EF2671EB34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470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20FB-B165-8046-B81F-3BEA5C73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CEF5B-8E2B-8BFE-ECF8-1608657DE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D4F29-D856-D4A6-4DD0-F3FEDAF68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85F78-D9C4-163C-7FB0-9A503E50E6B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3531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1074-C633-B214-3328-DF11C460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2EC69-77E8-8F94-2E32-4A597441C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28B0B-1DCE-005B-D806-D53A7CEEF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D586E-E6F1-BAE8-9566-64D86A4A35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1824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5DBC-4B5F-A725-3903-3B17852C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B20BC-5158-CDB4-EE0A-745594A11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06DDB-7001-8CC9-923A-1AFDD5348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AB853-00DE-4BEF-16F5-3A4ABD4934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6936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B86D-E7A0-7A1A-A4E0-9E28CBEF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F2265-9210-7F78-0ADE-0E5A83B35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A04B7-B3AE-9D38-3C90-A92E91FCA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EB055-E212-210C-530C-03C47F7A7A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820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94E51705-A6A0-4FB8-8CD5-D26DB68609EF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11277600" cy="6057900"/>
          </a:xfrm>
          <a:prstGeom prst="rect">
            <a:avLst/>
          </a:prstGeom>
          <a:solidFill>
            <a:srgbClr val="EEF3FA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ABDA8D-0893-4C4C-8E76-99A58563A97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905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COURSE PROJECT / PERSONALITY CHAT EVALUATION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D40271-E574-4F4E-8DB8-AAB048877DCC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866900" cy="381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959E72-1665-47CC-BC50-55BC58620A09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20002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925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基于微信聊天数据、Qwen2.5-7B-Instruct 与 </a:t>
            </a:r>
            <a:r>
              <a:rPr sz="2925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LoRA</a:t>
            </a:r>
            <a:r>
              <a:rPr sz="2925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925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的人格聊天系统</a:t>
            </a:r>
            <a:r>
              <a:rPr lang="zh-CN" altLang="en-US" sz="2925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微调</a:t>
            </a:r>
            <a:endParaRPr sz="2925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6A8E4D-80A4-4B11-A388-BA2D987EA995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6096000" cy="8001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0" i="1">
                <a:solidFill>
                  <a:srgbClr val="5B6B84"/>
                </a:solidFill>
                <a:latin typeface="Georgia"/>
                <a:ea typeface="Georgia"/>
                <a:cs typeface="Georgia"/>
              </a:defRPr>
            </a:pPr>
            <a:r>
              <a:rPr lang="zh-CN" altLang="en-US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经济学院      </a:t>
            </a:r>
            <a:r>
              <a:rPr lang="en-US" altLang="zh-CN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2210644 </a:t>
            </a:r>
            <a:r>
              <a:rPr lang="zh-CN" altLang="en-US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刘沛毓</a:t>
            </a:r>
            <a:endParaRPr sz="1800" b="0" i="1" dirty="0">
              <a:solidFill>
                <a:srgbClr val="5B6B84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E2DEEC-EC68-4C57-9B7D-B03EC04CA94F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446DAC-9310-4B14-B71F-FA814E008DED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TARGET PERSONAS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855B8-E528-4984-8627-2FD47530F73A}"/>
              </a:ext>
            </a:extLst>
          </p:cNvPr>
          <p:cNvSpPr>
            <a:spLocks noGrp="1"/>
          </p:cNvSpPr>
          <p:nvPr/>
        </p:nvSpPr>
        <p:spPr>
          <a:xfrm>
            <a:off x="9144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3BBA5F-27B6-4DDD-886B-A3AE5CA81B15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295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老师</a:t>
            </a:r>
            <a:r>
              <a:rPr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lang="zh-CN" altLang="en-US"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同学</a:t>
            </a:r>
            <a:r>
              <a:rPr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lang="zh-CN" altLang="en-US"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亲人</a:t>
            </a:r>
            <a:endParaRPr sz="900" b="0" i="0" dirty="0">
              <a:solidFill>
                <a:srgbClr val="7F90A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FF59B9-70CD-4FE7-B5E8-502AF2C978FD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4A639-9C12-4E92-8D9E-4ABD0002A7E7}"/>
              </a:ext>
            </a:extLst>
          </p:cNvPr>
          <p:cNvSpPr>
            <a:spLocks noGrp="1"/>
          </p:cNvSpPr>
          <p:nvPr/>
        </p:nvSpPr>
        <p:spPr>
          <a:xfrm>
            <a:off x="27813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SAMPLES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A4A40A-C8B9-4D83-9F0E-CD13E94A032E}"/>
              </a:ext>
            </a:extLst>
          </p:cNvPr>
          <p:cNvSpPr>
            <a:spLocks noGrp="1"/>
          </p:cNvSpPr>
          <p:nvPr/>
        </p:nvSpPr>
        <p:spPr>
          <a:xfrm>
            <a:off x="27813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6251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627E58-A57A-4519-86CC-52C7D29E12E0}"/>
              </a:ext>
            </a:extLst>
          </p:cNvPr>
          <p:cNvSpPr>
            <a:spLocks noGrp="1"/>
          </p:cNvSpPr>
          <p:nvPr/>
        </p:nvSpPr>
        <p:spPr>
          <a:xfrm>
            <a:off x="2781300" y="5676900"/>
            <a:ext cx="1295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train + test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086003-83A8-4589-9854-4E4A8768B490}"/>
              </a:ext>
            </a:extLst>
          </p:cNvPr>
          <p:cNvSpPr>
            <a:spLocks noGrp="1"/>
          </p:cNvSpPr>
          <p:nvPr/>
        </p:nvSpPr>
        <p:spPr>
          <a:xfrm>
            <a:off x="44386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66E8AD-EE5F-4C74-82BF-3BA2523F46A1}"/>
              </a:ext>
            </a:extLst>
          </p:cNvPr>
          <p:cNvSpPr>
            <a:spLocks noGrp="1"/>
          </p:cNvSpPr>
          <p:nvPr/>
        </p:nvSpPr>
        <p:spPr>
          <a:xfrm>
            <a:off x="46482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MODEL BASE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03EB40-1812-465D-8E47-64C3E1669681}"/>
              </a:ext>
            </a:extLst>
          </p:cNvPr>
          <p:cNvSpPr>
            <a:spLocks noGrp="1"/>
          </p:cNvSpPr>
          <p:nvPr/>
        </p:nvSpPr>
        <p:spPr>
          <a:xfrm>
            <a:off x="46482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Qwen2.5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5A23D7-AB3E-4561-948A-502F7E757A39}"/>
              </a:ext>
            </a:extLst>
          </p:cNvPr>
          <p:cNvSpPr>
            <a:spLocks noGrp="1"/>
          </p:cNvSpPr>
          <p:nvPr/>
        </p:nvSpPr>
        <p:spPr>
          <a:xfrm>
            <a:off x="4648200" y="5676900"/>
            <a:ext cx="1295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7B Instruct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ADC8A7-1BB0-4AE6-A774-995AE730FE0F}"/>
              </a:ext>
            </a:extLst>
          </p:cNvPr>
          <p:cNvSpPr>
            <a:spLocks noGrp="1"/>
          </p:cNvSpPr>
          <p:nvPr/>
        </p:nvSpPr>
        <p:spPr>
          <a:xfrm>
            <a:off x="8001000" y="1066800"/>
            <a:ext cx="3086100" cy="43624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5EE8907-BA01-BF31-506D-90CC06BF9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331" y="1066800"/>
            <a:ext cx="3271838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1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25FBB4DE-FBEA-4161-A1EC-324F02876C7A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7304A5-FD93-4A1E-BDB0-E16B7904BC90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0FA457-475C-4964-8F30-CE3C5F72AB0F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B146B7-4B95-4899-8D76-D2522F079392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7F7F1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C6231A-9EBB-4BC8-A692-C78B2864FEE8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AE2F95-3FC2-4CDA-92EE-E3D4B1C6A661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DE9C2A-87F0-4E6D-A35D-2A8947D56FD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36D08B-FD9B-43E2-A387-98D1A248927D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F41224-0B2A-4714-AE91-32A30A36BC65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73C093-5193-4A77-A33A-30D14B5E2119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DABD00-4BBD-4DBD-9FD1-DB042B9FACBA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2ACB2A-B0E0-4DC0-9DDC-C70D6419692A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F54F5-E618-4870-B364-06B8E55620D4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FD442F-6055-4977-99CE-2DA1D3E7A203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66558A-C2BB-420B-BEB1-2D709C707E4A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展示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流程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C11A6A-23AC-4FC8-B7E9-B495293A2C95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整个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流程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可以概括为</a:t>
            </a:r>
            <a:r>
              <a:rPr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 4 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个环节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DC2842-186B-41D9-B242-C81DF2B9AEE0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2381250" cy="2095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B475C6-1729-4F92-BED8-0FFCC27E29E1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20383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STEP 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2E84DC-D653-4238-A275-8BE80E871BC7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20383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5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0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数据集构建</a:t>
            </a:r>
            <a:endParaRPr sz="15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A2D6D2-C4B8-444F-8688-2C867E3824CF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2038350" cy="1276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12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借助</a:t>
            </a: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 x-</a:t>
            </a:r>
            <a:r>
              <a:rPr sz="112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wechat</a:t>
            </a: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2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项目导出原始私聊记录，保留时间顺序与发送方向</a:t>
            </a: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。</a:t>
            </a:r>
            <a:r>
              <a:rPr lang="zh-CN" altLang="en-US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随后抽取文本消息，构造成 </a:t>
            </a:r>
            <a:r>
              <a:rPr lang="en-US" altLang="zh-CN" sz="1125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alpace</a:t>
            </a:r>
            <a:r>
              <a:rPr lang="zh-CN" altLang="en-US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数据格式。</a:t>
            </a:r>
          </a:p>
          <a:p>
            <a:pPr algn="l">
              <a:defRPr sz="112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endParaRPr sz="112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11D129-13D6-4EDA-8F89-855E7343C277}"/>
              </a:ext>
            </a:extLst>
          </p:cNvPr>
          <p:cNvSpPr>
            <a:spLocks noGrp="1"/>
          </p:cNvSpPr>
          <p:nvPr/>
        </p:nvSpPr>
        <p:spPr>
          <a:xfrm>
            <a:off x="3048000" y="3657600"/>
            <a:ext cx="495300" cy="381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088E15-1FCE-4671-A715-187666F1432E}"/>
              </a:ext>
            </a:extLst>
          </p:cNvPr>
          <p:cNvSpPr>
            <a:spLocks noGrp="1"/>
          </p:cNvSpPr>
          <p:nvPr/>
        </p:nvSpPr>
        <p:spPr>
          <a:xfrm>
            <a:off x="3429000" y="3600450"/>
            <a:ext cx="95250" cy="1524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71854A-EBDD-40B3-8FAF-4954DB866390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381250" cy="20955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5DBAFC-BBFF-460C-9C2A-6B34B3B75E4D}"/>
              </a:ext>
            </a:extLst>
          </p:cNvPr>
          <p:cNvSpPr>
            <a:spLocks noGrp="1"/>
          </p:cNvSpPr>
          <p:nvPr/>
        </p:nvSpPr>
        <p:spPr>
          <a:xfrm>
            <a:off x="3695700" y="2781300"/>
            <a:ext cx="20383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STEP 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0AC773F-D381-4357-9331-176DD1C83189}"/>
              </a:ext>
            </a:extLst>
          </p:cNvPr>
          <p:cNvSpPr>
            <a:spLocks noGrp="1"/>
          </p:cNvSpPr>
          <p:nvPr/>
        </p:nvSpPr>
        <p:spPr>
          <a:xfrm>
            <a:off x="3695700" y="2990850"/>
            <a:ext cx="20383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5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0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模型训练</a:t>
            </a:r>
            <a:endParaRPr sz="15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AC3380-51B5-4265-904D-EE012D2F1CDA}"/>
              </a:ext>
            </a:extLst>
          </p:cNvPr>
          <p:cNvSpPr>
            <a:spLocks noGrp="1"/>
          </p:cNvSpPr>
          <p:nvPr/>
        </p:nvSpPr>
        <p:spPr>
          <a:xfrm>
            <a:off x="3695700" y="3276600"/>
            <a:ext cx="2038350" cy="1276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12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基于 </a:t>
            </a:r>
            <a:r>
              <a:rPr lang="en-US" altLang="zh-CN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Qwen2.5-7B-Instruct</a:t>
            </a:r>
            <a:r>
              <a:rPr lang="zh-CN" altLang="en-US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，在 </a:t>
            </a:r>
            <a:r>
              <a:rPr lang="en-US" altLang="zh-CN" sz="1125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LLaMA</a:t>
            </a:r>
            <a:r>
              <a:rPr lang="en-US" altLang="zh-CN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-Factory </a:t>
            </a:r>
            <a:r>
              <a:rPr lang="zh-CN" altLang="en-US" sz="112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中做监督微调。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DFB827-0818-4BCA-A46F-353216A96707}"/>
              </a:ext>
            </a:extLst>
          </p:cNvPr>
          <p:cNvSpPr>
            <a:spLocks noGrp="1"/>
          </p:cNvSpPr>
          <p:nvPr/>
        </p:nvSpPr>
        <p:spPr>
          <a:xfrm>
            <a:off x="6038850" y="3657600"/>
            <a:ext cx="495300" cy="381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9B4436C-F26C-49C2-BA46-D71EE31160FF}"/>
              </a:ext>
            </a:extLst>
          </p:cNvPr>
          <p:cNvSpPr>
            <a:spLocks noGrp="1"/>
          </p:cNvSpPr>
          <p:nvPr/>
        </p:nvSpPr>
        <p:spPr>
          <a:xfrm>
            <a:off x="6419850" y="3600450"/>
            <a:ext cx="95250" cy="1524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9D7112-32F0-4D10-AAAE-95E5837C3F2D}"/>
              </a:ext>
            </a:extLst>
          </p:cNvPr>
          <p:cNvSpPr>
            <a:spLocks noGrp="1"/>
          </p:cNvSpPr>
          <p:nvPr/>
        </p:nvSpPr>
        <p:spPr>
          <a:xfrm>
            <a:off x="6515100" y="2628900"/>
            <a:ext cx="2381250" cy="2095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5738C3-0C72-4C33-A02F-E70AD602EE21}"/>
              </a:ext>
            </a:extLst>
          </p:cNvPr>
          <p:cNvSpPr>
            <a:spLocks noGrp="1"/>
          </p:cNvSpPr>
          <p:nvPr/>
        </p:nvSpPr>
        <p:spPr>
          <a:xfrm>
            <a:off x="6686550" y="2781300"/>
            <a:ext cx="20383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STEP 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D2320B-A08D-4C30-9AFD-ADBCBBFF983E}"/>
              </a:ext>
            </a:extLst>
          </p:cNvPr>
          <p:cNvSpPr>
            <a:spLocks noGrp="1"/>
          </p:cNvSpPr>
          <p:nvPr/>
        </p:nvSpPr>
        <p:spPr>
          <a:xfrm>
            <a:off x="6686550" y="2990850"/>
            <a:ext cx="20383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5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0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介绍评价体系</a:t>
            </a:r>
            <a:endParaRPr sz="15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F97B67-44AD-4AAC-86A1-1E8A60ADD6F4}"/>
              </a:ext>
            </a:extLst>
          </p:cNvPr>
          <p:cNvSpPr>
            <a:spLocks noGrp="1"/>
          </p:cNvSpPr>
          <p:nvPr/>
        </p:nvSpPr>
        <p:spPr>
          <a:xfrm>
            <a:off x="6686550" y="3276600"/>
            <a:ext cx="2038350" cy="1276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12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0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一键评测脚本与五层指标体系</a:t>
            </a:r>
            <a:endParaRPr sz="112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FBC96B-DBC5-4826-BAD6-C28E7B87BA8E}"/>
              </a:ext>
            </a:extLst>
          </p:cNvPr>
          <p:cNvSpPr>
            <a:spLocks noGrp="1"/>
          </p:cNvSpPr>
          <p:nvPr/>
        </p:nvSpPr>
        <p:spPr>
          <a:xfrm>
            <a:off x="9029700" y="3657600"/>
            <a:ext cx="495300" cy="381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F148091-9FB9-45AC-BA60-55E3C5467BD8}"/>
              </a:ext>
            </a:extLst>
          </p:cNvPr>
          <p:cNvSpPr>
            <a:spLocks noGrp="1"/>
          </p:cNvSpPr>
          <p:nvPr/>
        </p:nvSpPr>
        <p:spPr>
          <a:xfrm>
            <a:off x="9410700" y="3600450"/>
            <a:ext cx="95250" cy="1524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8AB179-F0B0-4D0F-A9FA-12268B9B923E}"/>
              </a:ext>
            </a:extLst>
          </p:cNvPr>
          <p:cNvSpPr>
            <a:spLocks noGrp="1"/>
          </p:cNvSpPr>
          <p:nvPr/>
        </p:nvSpPr>
        <p:spPr>
          <a:xfrm>
            <a:off x="9505950" y="2628900"/>
            <a:ext cx="2152650" cy="20955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C107BAC-FFD0-45C8-941B-2B36B670FC4F}"/>
              </a:ext>
            </a:extLst>
          </p:cNvPr>
          <p:cNvSpPr>
            <a:spLocks noGrp="1"/>
          </p:cNvSpPr>
          <p:nvPr/>
        </p:nvSpPr>
        <p:spPr>
          <a:xfrm>
            <a:off x="9677400" y="2781300"/>
            <a:ext cx="1809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STEP 04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FCBFF2A-6B4F-4F09-93F2-556D09E13922}"/>
              </a:ext>
            </a:extLst>
          </p:cNvPr>
          <p:cNvSpPr>
            <a:spLocks noGrp="1"/>
          </p:cNvSpPr>
          <p:nvPr/>
        </p:nvSpPr>
        <p:spPr>
          <a:xfrm>
            <a:off x="9677400" y="2990850"/>
            <a:ext cx="1809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5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5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结果展示</a:t>
            </a:r>
            <a:endParaRPr sz="15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917467E-631F-41DA-B2CC-6EED63F98CB1}"/>
              </a:ext>
            </a:extLst>
          </p:cNvPr>
          <p:cNvSpPr>
            <a:spLocks noGrp="1"/>
          </p:cNvSpPr>
          <p:nvPr/>
        </p:nvSpPr>
        <p:spPr>
          <a:xfrm>
            <a:off x="9677400" y="3276600"/>
            <a:ext cx="1809750" cy="1276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12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对 Base 与 </a:t>
            </a:r>
            <a:r>
              <a:rPr sz="112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LoRA</a:t>
            </a: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(history) </a:t>
            </a:r>
            <a:r>
              <a:rPr sz="112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运行同一套离线评测脚本并汇总结果</a:t>
            </a:r>
            <a:r>
              <a:rPr sz="112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288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9345415-05F7-40DF-8DD2-CC920F17502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B7280F-F4D8-42FF-9DE0-E79FB32D2363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86BCF2-EB10-472C-B343-C16B275754EB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1D91FA-2CF6-4DF9-810F-D1488A3AA8DB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7F7F1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D8B7B8-C7EC-4620-B004-1CE5AC60A79B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0909ED-C231-4008-BF3B-9F4E0A06FDB7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D04FC5-0050-4EF2-B341-19DCB250D535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079F30-CD65-4FB7-8F4C-A208066CBF55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C9BC86-6606-49AC-A7EB-01B95B53CD47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8F54EF-7B53-4B5D-BA3A-C3BD31F9EBB3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2C4826-F58B-41E6-B086-199BD6C79AA1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7A204F-5CAD-4C4B-8E83-D37E4F097764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586AA8-6261-4011-B647-6D8DE2AB3995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4386E0-C69E-41A5-B121-625DF46FCC98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E3717A-7BDF-4363-A64F-7813FBEDED48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数据来源：借助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x-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wechat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导出微信私聊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的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JSON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格式数据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F0A793-1355-43BC-9E0E-437DF9874D8F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4476750" cy="3505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8799AF-E001-4A52-85A1-E1F454783E4C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3429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WHAT WE KEEP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2002F5-0D35-432F-92C6-42AE13ACED59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95250" cy="952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FB7B57-0B6E-44B7-8052-F377FEC48FFF}"/>
              </a:ext>
            </a:extLst>
          </p:cNvPr>
          <p:cNvSpPr>
            <a:spLocks noGrp="1"/>
          </p:cNvSpPr>
          <p:nvPr/>
        </p:nvSpPr>
        <p:spPr>
          <a:xfrm>
            <a:off x="1047750" y="3009900"/>
            <a:ext cx="371475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消息</a:t>
            </a:r>
            <a:r>
              <a:rPr lang="zh-CN" altLang="en-US"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类型</a:t>
            </a:r>
            <a:endParaRPr sz="165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73588A-AAC2-4E52-8639-5C1FB631889D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95250" cy="952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3CF4EB-8C4D-48ED-BBEC-41D68DADA98F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371475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发送方向</a:t>
            </a:r>
            <a:r>
              <a:rPr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isSend</a:t>
            </a:r>
            <a:endParaRPr sz="165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CF23A6-FD20-4352-A170-C09746DF5D00}"/>
              </a:ext>
            </a:extLst>
          </p:cNvPr>
          <p:cNvSpPr>
            <a:spLocks noGrp="1"/>
          </p:cNvSpPr>
          <p:nvPr/>
        </p:nvSpPr>
        <p:spPr>
          <a:xfrm>
            <a:off x="800100" y="4314825"/>
            <a:ext cx="95250" cy="952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9FDE4B-A242-4175-9DAA-A57A91AB0E89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371475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消息发送时间</a:t>
            </a:r>
            <a:endParaRPr sz="165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90076D-A1C9-4EA9-BE48-1264940EFF65}"/>
              </a:ext>
            </a:extLst>
          </p:cNvPr>
          <p:cNvSpPr>
            <a:spLocks noGrp="1"/>
          </p:cNvSpPr>
          <p:nvPr/>
        </p:nvSpPr>
        <p:spPr>
          <a:xfrm>
            <a:off x="800100" y="4905375"/>
            <a:ext cx="95250" cy="952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71BE48-AD74-496A-BF57-8582B3484116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371475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消息顺序</a:t>
            </a:r>
            <a:endParaRPr sz="165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9B52D2-020E-4834-925D-A311535AABE1}"/>
              </a:ext>
            </a:extLst>
          </p:cNvPr>
          <p:cNvSpPr>
            <a:spLocks noGrp="1"/>
          </p:cNvSpPr>
          <p:nvPr/>
        </p:nvSpPr>
        <p:spPr>
          <a:xfrm>
            <a:off x="5295900" y="2343150"/>
            <a:ext cx="6362700" cy="35052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749BB53-A0AC-D86B-EBB0-392517EE4177}"/>
              </a:ext>
            </a:extLst>
          </p:cNvPr>
          <p:cNvSpPr txBox="1"/>
          <p:nvPr/>
        </p:nvSpPr>
        <p:spPr>
          <a:xfrm>
            <a:off x="5524500" y="2476500"/>
            <a:ext cx="49911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"messages": [</a:t>
            </a:r>
            <a:br>
              <a:rPr lang="en-US" altLang="zh-CN" sz="1400" dirty="0"/>
            </a:br>
            <a:r>
              <a:rPr lang="en-US" altLang="zh-CN" sz="1400" dirty="0"/>
              <a:t>{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localId</a:t>
            </a:r>
            <a:r>
              <a:rPr lang="en-US" altLang="zh-CN" sz="1400" dirty="0"/>
              <a:t>": 1,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createTime</a:t>
            </a:r>
            <a:r>
              <a:rPr lang="en-US" altLang="zh-CN" sz="1400" dirty="0"/>
              <a:t>": 1651911282,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formattedTime</a:t>
            </a:r>
            <a:r>
              <a:rPr lang="en-US" altLang="zh-CN" sz="1400" dirty="0"/>
              <a:t>": "2022-05-07 16:14:42",</a:t>
            </a:r>
            <a:br>
              <a:rPr lang="en-US" altLang="zh-CN" sz="1400" dirty="0"/>
            </a:br>
            <a:r>
              <a:rPr lang="en-US" altLang="zh-CN" sz="1400" dirty="0"/>
              <a:t>"type": "</a:t>
            </a:r>
            <a:r>
              <a:rPr lang="zh-CN" altLang="en-US" sz="1400" dirty="0"/>
              <a:t>文本消息</a:t>
            </a:r>
            <a:r>
              <a:rPr lang="en-US" altLang="zh-CN" sz="1400" dirty="0"/>
              <a:t>",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localType</a:t>
            </a:r>
            <a:r>
              <a:rPr lang="en-US" altLang="zh-CN" sz="1400" dirty="0"/>
              <a:t>": 1,</a:t>
            </a:r>
            <a:br>
              <a:rPr lang="en-US" altLang="zh-CN" sz="1400" dirty="0"/>
            </a:br>
            <a:r>
              <a:rPr lang="en-US" altLang="zh-CN" sz="1400" dirty="0"/>
              <a:t>"content": "--",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isSend</a:t>
            </a:r>
            <a:r>
              <a:rPr lang="en-US" altLang="zh-CN" sz="1400" dirty="0"/>
              <a:t>": 0,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senderUsername</a:t>
            </a:r>
            <a:r>
              <a:rPr lang="en-US" altLang="zh-CN" sz="1400" dirty="0"/>
              <a:t>": "wxid_w21wdbqm38ka22",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senderDisplayName</a:t>
            </a:r>
            <a:r>
              <a:rPr lang="en-US" altLang="zh-CN" sz="1400" dirty="0"/>
              <a:t>": "</a:t>
            </a:r>
            <a:r>
              <a:rPr lang="zh-CN" altLang="en-US" sz="1400" dirty="0"/>
              <a:t>刘沛毓</a:t>
            </a:r>
            <a:r>
              <a:rPr lang="en-US" altLang="zh-CN" sz="1400" dirty="0"/>
              <a:t>",</a:t>
            </a:r>
            <a:br>
              <a:rPr lang="en-US" altLang="zh-CN" sz="1400" dirty="0"/>
            </a:br>
            <a:r>
              <a:rPr lang="en-US" altLang="zh-CN" sz="1400" dirty="0"/>
              <a:t>"source": "",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senderAvatarKey</a:t>
            </a:r>
            <a:r>
              <a:rPr lang="en-US" altLang="zh-CN" sz="1400" dirty="0"/>
              <a:t>": "wxid_w21wdbqm38ka22",</a:t>
            </a:r>
            <a:br>
              <a:rPr lang="en-US" altLang="zh-CN" sz="1400" dirty="0"/>
            </a:br>
            <a:r>
              <a:rPr lang="en-US" altLang="zh-CN" sz="1400" dirty="0"/>
              <a:t>"</a:t>
            </a:r>
            <a:r>
              <a:rPr lang="en-US" altLang="zh-CN" sz="1400" dirty="0" err="1"/>
              <a:t>platformMessageId</a:t>
            </a:r>
            <a:r>
              <a:rPr lang="en-US" altLang="zh-CN" sz="1400" dirty="0"/>
              <a:t>": "4575726804860747374"</a:t>
            </a:r>
            <a:br>
              <a:rPr lang="en-US" altLang="zh-CN" sz="1400" dirty="0"/>
            </a:br>
            <a:r>
              <a:rPr lang="en-US" altLang="zh-CN" sz="1400" dirty="0"/>
              <a:t>},</a:t>
            </a:r>
            <a:endParaRPr lang="zh-CN" altLang="en-US" sz="140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90ADEF9-FF20-930C-EE4D-BA55C0BE6FB2}"/>
              </a:ext>
            </a:extLst>
          </p:cNvPr>
          <p:cNvCxnSpPr>
            <a:cxnSpLocks/>
          </p:cNvCxnSpPr>
          <p:nvPr/>
        </p:nvCxnSpPr>
        <p:spPr>
          <a:xfrm flipV="1">
            <a:off x="1948618" y="3009900"/>
            <a:ext cx="3657600" cy="193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B24CC1F-D54D-3698-34D8-49698B76D11F}"/>
              </a:ext>
            </a:extLst>
          </p:cNvPr>
          <p:cNvCxnSpPr/>
          <p:nvPr/>
        </p:nvCxnSpPr>
        <p:spPr>
          <a:xfrm>
            <a:off x="1948618" y="3133725"/>
            <a:ext cx="3695437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F59D1FB-1C46-5E23-8C9A-5AFB40C36335}"/>
              </a:ext>
            </a:extLst>
          </p:cNvPr>
          <p:cNvCxnSpPr>
            <a:cxnSpLocks/>
          </p:cNvCxnSpPr>
          <p:nvPr/>
        </p:nvCxnSpPr>
        <p:spPr>
          <a:xfrm>
            <a:off x="2661219" y="3771900"/>
            <a:ext cx="2944999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7D6650F-AFFA-9915-CD4C-0BC85E9BD0CD}"/>
              </a:ext>
            </a:extLst>
          </p:cNvPr>
          <p:cNvCxnSpPr>
            <a:cxnSpLocks/>
          </p:cNvCxnSpPr>
          <p:nvPr/>
        </p:nvCxnSpPr>
        <p:spPr>
          <a:xfrm flipV="1">
            <a:off x="2402665" y="3448050"/>
            <a:ext cx="3203553" cy="857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E98AE0B-78E1-6501-49C1-0ADF581E0DA2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zh-CN" sz="1275" dirty="0"/>
              <a:t>导出的</a:t>
            </a:r>
            <a:r>
              <a:rPr lang="en-US" altLang="zh-CN" sz="1275" dirty="0" err="1"/>
              <a:t>json</a:t>
            </a:r>
            <a:r>
              <a:rPr lang="zh-CN" altLang="zh-CN" sz="1275" dirty="0"/>
              <a:t>格式文件中对我们的项目有用的有四项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1802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ECA6035-1773-4EF5-8881-E535B0FFE578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8AFABA-96DB-48C9-B5A7-0560C60437E5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DE918B-5CFD-4562-A9B0-EC4CECE1A9C9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C4A7C1-0C18-4C17-9B01-8787015990BD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AAD9A6-A503-4DBD-B730-A67B6F31E1B6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F8D0A5-F0F8-47FB-8D38-F388643C5E39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AAC7B-8FAC-4F4D-8629-55E0B86122AB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514388-9FBD-4ADB-BA12-3E10DBC74567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C92AEF-4042-4925-AF4A-00933B1FE9DA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ADC572-184F-4302-B3A8-CE0EDE4F8281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E1B40F-A155-43EB-A966-28B606E7C641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7E03FB-F2D7-4E31-92D6-EFE1593942A2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FCCDD3-9DF8-4F0C-B9DF-244A8D342A5F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B0C9DE-486A-41BB-8111-4CE10196033A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38A988-033B-47FB-830D-A87B809970DD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数据预处理：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9F7717-9D21-48AB-B12F-02DF00A0AB9C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只保留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配对关系</a:t>
            </a: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（本人输入</a:t>
            </a:r>
            <a:r>
              <a:rPr lang="en-US" altLang="zh-CN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+</a:t>
            </a: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目标人物输出）</a:t>
            </a:r>
            <a:r>
              <a:rPr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B98F47-1C78-4955-9B53-5B19D7B3E763}"/>
              </a:ext>
            </a:extLst>
          </p:cNvPr>
          <p:cNvSpPr>
            <a:spLocks noGrp="1"/>
          </p:cNvSpPr>
          <p:nvPr/>
        </p:nvSpPr>
        <p:spPr>
          <a:xfrm>
            <a:off x="533400" y="2419350"/>
            <a:ext cx="5143500" cy="3124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ED72CE-1088-40BA-A7A1-7BFAB6E91A21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40005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RAW MESSAGE FLOW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E1B9D4-1E8C-41A7-91CB-D7985DC2323A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4095750" cy="18097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只保留</a:t>
            </a:r>
            <a:r>
              <a:rPr lang="zh-CN" altLang="zh-CN" dirty="0"/>
              <a:t>上一轮是</a:t>
            </a:r>
            <a:r>
              <a:rPr lang="zh-CN" altLang="en-US" dirty="0"/>
              <a:t>本人</a:t>
            </a:r>
            <a:r>
              <a:rPr lang="zh-CN" altLang="zh-CN" dirty="0"/>
              <a:t>输入、下一轮是目标人物回复</a:t>
            </a:r>
            <a:r>
              <a:rPr lang="zh-CN" altLang="en-US" dirty="0"/>
              <a:t>格式的数据</a:t>
            </a:r>
            <a:r>
              <a:rPr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；</a:t>
            </a:r>
            <a:endParaRPr lang="en-US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endParaRPr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只保留文本类型的消息（</a:t>
            </a:r>
            <a:r>
              <a:rPr sz="180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某些消息是表情</a:t>
            </a:r>
            <a:r>
              <a:rPr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、</a:t>
            </a: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图片）</a:t>
            </a:r>
            <a:endParaRPr lang="en-US" altLang="zh-CN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endParaRPr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zh-CN" dirty="0"/>
              <a:t>时间间隔</a:t>
            </a:r>
            <a:r>
              <a:rPr lang="zh-CN" altLang="en-US" dirty="0"/>
              <a:t>小</a:t>
            </a:r>
            <a:r>
              <a:rPr lang="zh-CN" altLang="zh-CN" dirty="0"/>
              <a:t>于</a:t>
            </a:r>
            <a:r>
              <a:rPr lang="en-US" altLang="zh-CN" dirty="0"/>
              <a:t>1</a:t>
            </a:r>
            <a:r>
              <a:rPr lang="zh-CN" altLang="zh-CN" dirty="0"/>
              <a:t>小时</a:t>
            </a:r>
            <a:endParaRPr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CDDD20-6650-4AE4-A238-C338275E034B}"/>
              </a:ext>
            </a:extLst>
          </p:cNvPr>
          <p:cNvSpPr>
            <a:spLocks noGrp="1"/>
          </p:cNvSpPr>
          <p:nvPr/>
        </p:nvSpPr>
        <p:spPr>
          <a:xfrm>
            <a:off x="5981700" y="2419350"/>
            <a:ext cx="5676900" cy="31242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CF914D-BDF0-4835-AE04-F37042BDF7C1}"/>
              </a:ext>
            </a:extLst>
          </p:cNvPr>
          <p:cNvSpPr>
            <a:spLocks noGrp="1"/>
          </p:cNvSpPr>
          <p:nvPr/>
        </p:nvSpPr>
        <p:spPr>
          <a:xfrm>
            <a:off x="6267450" y="2686050"/>
            <a:ext cx="447675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USABLE SUPERVISION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F0A63A-4072-4DCE-B12A-339D36FE5B0C}"/>
              </a:ext>
            </a:extLst>
          </p:cNvPr>
          <p:cNvSpPr>
            <a:spLocks noGrp="1"/>
          </p:cNvSpPr>
          <p:nvPr/>
        </p:nvSpPr>
        <p:spPr>
          <a:xfrm>
            <a:off x="6267450" y="3190875"/>
            <a:ext cx="95250" cy="952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38136E-DB3C-4FA6-9699-70DF5AE17686}"/>
              </a:ext>
            </a:extLst>
          </p:cNvPr>
          <p:cNvSpPr>
            <a:spLocks noGrp="1"/>
          </p:cNvSpPr>
          <p:nvPr/>
        </p:nvSpPr>
        <p:spPr>
          <a:xfrm>
            <a:off x="6515100" y="3067050"/>
            <a:ext cx="4762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725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725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连续信息无法</a:t>
            </a:r>
            <a:r>
              <a:rPr sz="1725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形成“上一轮输入</a:t>
            </a:r>
            <a:r>
              <a:rPr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sz="1725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下一轮</a:t>
            </a:r>
            <a:r>
              <a:rPr lang="zh-CN" altLang="en-US"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目标对象</a:t>
            </a:r>
            <a:r>
              <a:rPr sz="1725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回复</a:t>
            </a:r>
            <a:r>
              <a:rPr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”</a:t>
            </a:r>
            <a:r>
              <a:rPr lang="zh-CN" altLang="en-US"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的</a:t>
            </a:r>
            <a:r>
              <a:rPr sz="1725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配对</a:t>
            </a:r>
            <a:r>
              <a:rPr lang="zh-CN" altLang="en-US"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，从而无法</a:t>
            </a:r>
            <a:r>
              <a:rPr lang="zh-CN" altLang="zh-CN" sz="1725" dirty="0"/>
              <a:t>形成可用的监督配对</a:t>
            </a:r>
            <a:endParaRPr sz="1725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EC96E1-D835-4C10-9DAF-08FC1640E561}"/>
              </a:ext>
            </a:extLst>
          </p:cNvPr>
          <p:cNvSpPr>
            <a:spLocks noGrp="1"/>
          </p:cNvSpPr>
          <p:nvPr/>
        </p:nvSpPr>
        <p:spPr>
          <a:xfrm>
            <a:off x="6267450" y="3857625"/>
            <a:ext cx="95250" cy="952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C6F8E-D75B-429D-99ED-CECB03823567}"/>
              </a:ext>
            </a:extLst>
          </p:cNvPr>
          <p:cNvSpPr>
            <a:spLocks noGrp="1"/>
          </p:cNvSpPr>
          <p:nvPr/>
        </p:nvSpPr>
        <p:spPr>
          <a:xfrm>
            <a:off x="6515100" y="3762375"/>
            <a:ext cx="4762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725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72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非文本格式需要多模态</a:t>
            </a:r>
            <a:endParaRPr sz="1725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04025B-AE00-4E6F-A8E6-1F7D6D5D4E26}"/>
              </a:ext>
            </a:extLst>
          </p:cNvPr>
          <p:cNvSpPr>
            <a:spLocks noGrp="1"/>
          </p:cNvSpPr>
          <p:nvPr/>
        </p:nvSpPr>
        <p:spPr>
          <a:xfrm>
            <a:off x="6267450" y="4524375"/>
            <a:ext cx="95250" cy="952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A05F987-7E36-4092-AC9C-A30B001E9440}"/>
              </a:ext>
            </a:extLst>
          </p:cNvPr>
          <p:cNvSpPr>
            <a:spLocks noGrp="1"/>
          </p:cNvSpPr>
          <p:nvPr/>
        </p:nvSpPr>
        <p:spPr>
          <a:xfrm>
            <a:off x="6515100" y="4400550"/>
            <a:ext cx="4762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725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725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不连续对话，语义间断无意义</a:t>
            </a:r>
            <a:endParaRPr sz="1725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341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F794A02-98AB-4436-87C3-59249BFFA0D6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A99856-EFDD-4252-8B71-1D01BF8CA00B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3CE20-8516-4441-8B47-2D672E0D4DC6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C6876D-0220-46E1-AE0C-A466C5B75C3C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0AF23-4091-492B-8408-D5500A62715C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1A430F-7DA9-4989-927E-7ED6519B9921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E128FB-562E-45AD-9D27-B538A5BF2F06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C5BC58-E691-4D32-ABB0-34DF329B5BC3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5AB87B-56FC-4E1A-B6E3-3FBFDB9451FA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11A143-22C3-42E1-8210-0F693F2D2F0B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7BA151-83F0-4E80-80A2-0E98D749ACEE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19A1C2-9600-4568-9D13-30B7717D8E3A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CE4DB0-9C0D-43EC-AE7D-7F584F50549F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3B01A2-17E4-48A5-A3BC-ABB89A989F3D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876F63-A6C3-4123-BF66-21C003412252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样本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最终格式（可监督微调样本示例）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CCC911-82C4-471E-8DDF-CBDEC2ACF860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将数据转换为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LLaMA</a:t>
            </a:r>
            <a:r>
              <a:rPr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-Factory 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可直接训练的</a:t>
            </a:r>
            <a:r>
              <a:rPr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 Alpaca </a:t>
            </a: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风格结构</a:t>
            </a:r>
            <a:r>
              <a:rPr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EE2091-D11A-4823-9C3A-25F528BDF3FA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820400" cy="3714750"/>
          </a:xfrm>
          <a:prstGeom prst="rect">
            <a:avLst/>
          </a:prstGeom>
          <a:solidFill>
            <a:srgbClr val="F6F9FE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50B316-589B-42BA-B0B2-3FF48664D0F7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10096500" cy="2857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"instruction":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请严格模仿目标人物的语气和习惯回复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"input":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用户当前发来的消息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"output":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目标人物真实回复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"system":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你现在是某个微信角色，请用其一贯风格回复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"history": [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  ["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上一轮用户输入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上一轮目标人物回复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"],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  ["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再上一轮用户输入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", "</a:t>
            </a:r>
            <a:r>
              <a:rPr sz="1500" b="0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再上一轮目标人物回复</a:t>
            </a: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"]</a:t>
            </a:r>
            <a:endParaRPr lang="en-US" sz="1500" b="0" i="0" dirty="0">
              <a:solidFill>
                <a:srgbClr val="14213D"/>
              </a:solidFill>
              <a:latin typeface="Consolas"/>
              <a:ea typeface="Consolas"/>
              <a:cs typeface="Consolas"/>
            </a:endParaRPr>
          </a:p>
          <a:p>
            <a:pPr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50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  [“</a:t>
            </a:r>
            <a:r>
              <a:rPr lang="zh-CN" altLang="en-US" sz="150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再再上一轮用户输入</a:t>
            </a:r>
            <a:r>
              <a:rPr lang="en-US" altLang="zh-CN" sz="150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”, “</a:t>
            </a:r>
            <a:r>
              <a:rPr lang="zh-CN" altLang="en-US" sz="150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再再上一轮目标人物回复</a:t>
            </a:r>
            <a:r>
              <a:rPr lang="en-US" altLang="zh-CN" sz="150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"]</a:t>
            </a:r>
            <a:endParaRPr sz="1500" b="0" i="0" dirty="0">
              <a:solidFill>
                <a:srgbClr val="14213D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  ]</a:t>
            </a:r>
          </a:p>
          <a:p>
            <a:pPr algn="l">
              <a:defRPr sz="1500" b="0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1500" b="0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25E3E2-B668-4507-BE21-D01D53D16536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7620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lang="zh-CN" altLang="en-US" sz="12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     最大</a:t>
            </a:r>
            <a:r>
              <a:rPr sz="12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history </a:t>
            </a:r>
            <a:r>
              <a:rPr sz="12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长度为</a:t>
            </a:r>
            <a:r>
              <a:rPr sz="12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 3 轮。</a:t>
            </a:r>
          </a:p>
        </p:txBody>
      </p:sp>
    </p:spTree>
    <p:extLst>
      <p:ext uri="{BB962C8B-B14F-4D97-AF65-F5344CB8AC3E}">
        <p14:creationId xmlns:p14="http://schemas.microsoft.com/office/powerpoint/2010/main" val="6708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0D910FBD-8DD1-4D34-BCC8-4CAE7693164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BBB962-59C7-4286-A714-DD20971D46C6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F5ED9A-6320-403A-A468-9795BC28CE27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B663F9-56E9-452D-95D2-5C939790293C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77748-85D3-43DC-AF45-DB2B9BDE418F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750E26-9C49-44C0-9344-A4414E287E11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D2A740-E0E2-4581-8B0D-CC505584CC42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F2AFAE-5F92-43AF-B52E-BC555A8BF982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5BA8F8-916C-4171-9D89-E978BD2AF1AA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55CBF0-BF73-4945-BBDF-3E6AD99BAEC3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57A209-B1A6-407D-869F-E0C67B625C87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9CCE69-9A9B-4DC5-AD45-F3EA2C7A3A11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DA1EFC-2A54-449B-B58B-882865040F3D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454F67-D996-4110-B292-E90A9A45AC8B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C32185-79E8-4FBC-9392-E51B2A7C1B61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数据规模：3 位人物、6251 条样本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9EAAB2-5757-4995-8F02-C0BF19009786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dirty="0"/>
              <a:t>为何选这三位目标人物：</a:t>
            </a:r>
            <a:r>
              <a:rPr lang="zh-CN" altLang="zh-CN" sz="1275" dirty="0">
                <a:solidFill>
                  <a:schemeClr val="accent2"/>
                </a:solidFill>
              </a:rPr>
              <a:t>样本量</a:t>
            </a:r>
            <a:r>
              <a:rPr lang="en-US" altLang="zh-CN" sz="1275" dirty="0">
                <a:solidFill>
                  <a:schemeClr val="accent2"/>
                </a:solidFill>
              </a:rPr>
              <a:t>+</a:t>
            </a:r>
            <a:r>
              <a:rPr lang="zh-CN" altLang="en-US" sz="1275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</a:rPr>
              <a:t>日常对话的三类目标对象</a:t>
            </a:r>
            <a:endParaRPr sz="1275" b="0" i="0" dirty="0">
              <a:solidFill>
                <a:schemeClr val="accent2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A5762-49E1-43F1-9AC9-122E5E568F3D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A94304-86BC-4575-87D3-7A4AAEE6A7B5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TRAIN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569F91-9C61-49AB-8652-5C1642721DC1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5625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5004F7-3219-468E-8194-578B1BEC5BFD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全部训练集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EE6136-F331-4C33-9EE4-4B06882AE175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7ABC76-63E9-47A7-A81B-C48F3FFC08D7}"/>
              </a:ext>
            </a:extLst>
          </p:cNvPr>
          <p:cNvSpPr>
            <a:spLocks noGrp="1"/>
          </p:cNvSpPr>
          <p:nvPr/>
        </p:nvSpPr>
        <p:spPr>
          <a:xfrm>
            <a:off x="304800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TEST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4B2720-602C-4185-B4D6-D3CEC47DD586}"/>
              </a:ext>
            </a:extLst>
          </p:cNvPr>
          <p:cNvSpPr>
            <a:spLocks noGrp="1"/>
          </p:cNvSpPr>
          <p:nvPr/>
        </p:nvSpPr>
        <p:spPr>
          <a:xfrm>
            <a:off x="304800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626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D2A7E11-65A0-4586-AEFF-64023EE908D4}"/>
              </a:ext>
            </a:extLst>
          </p:cNvPr>
          <p:cNvSpPr>
            <a:spLocks noGrp="1"/>
          </p:cNvSpPr>
          <p:nvPr/>
        </p:nvSpPr>
        <p:spPr>
          <a:xfrm>
            <a:off x="304800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全部测试集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56B870-8594-4860-8493-9DF5A8CBC6D8}"/>
              </a:ext>
            </a:extLst>
          </p:cNvPr>
          <p:cNvSpPr>
            <a:spLocks noGrp="1"/>
          </p:cNvSpPr>
          <p:nvPr/>
        </p:nvSpPr>
        <p:spPr>
          <a:xfrm>
            <a:off x="510540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42C841-1931-4009-AD4B-A410CE69DAE7}"/>
              </a:ext>
            </a:extLst>
          </p:cNvPr>
          <p:cNvSpPr>
            <a:spLocks noGrp="1"/>
          </p:cNvSpPr>
          <p:nvPr/>
        </p:nvSpPr>
        <p:spPr>
          <a:xfrm>
            <a:off x="531495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PERSONAS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27E0BC-5B66-43DC-991D-2D35584387E7}"/>
              </a:ext>
            </a:extLst>
          </p:cNvPr>
          <p:cNvSpPr>
            <a:spLocks noGrp="1"/>
          </p:cNvSpPr>
          <p:nvPr/>
        </p:nvSpPr>
        <p:spPr>
          <a:xfrm>
            <a:off x="531495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63679D-72EB-4903-A38D-63ED3D69EB06}"/>
              </a:ext>
            </a:extLst>
          </p:cNvPr>
          <p:cNvSpPr>
            <a:spLocks noGrp="1"/>
          </p:cNvSpPr>
          <p:nvPr/>
        </p:nvSpPr>
        <p:spPr>
          <a:xfrm>
            <a:off x="531495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人物</a:t>
            </a:r>
            <a:r>
              <a:rPr lang="zh-CN" altLang="en-US"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数量</a:t>
            </a:r>
            <a:endParaRPr sz="900" b="0" i="0" dirty="0">
              <a:solidFill>
                <a:srgbClr val="7F90A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F218BF8-A47F-4824-A54E-B5B9317B3737}"/>
              </a:ext>
            </a:extLst>
          </p:cNvPr>
          <p:cNvSpPr>
            <a:spLocks noGrp="1"/>
          </p:cNvSpPr>
          <p:nvPr/>
        </p:nvSpPr>
        <p:spPr>
          <a:xfrm>
            <a:off x="737235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9AF395-7E40-44AF-A399-D9BF450E7BC0}"/>
              </a:ext>
            </a:extLst>
          </p:cNvPr>
          <p:cNvSpPr>
            <a:spLocks noGrp="1"/>
          </p:cNvSpPr>
          <p:nvPr/>
        </p:nvSpPr>
        <p:spPr>
          <a:xfrm>
            <a:off x="758190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FORMAT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C0C16B-ED96-42ED-B6C8-2F04D0A7AEC1}"/>
              </a:ext>
            </a:extLst>
          </p:cNvPr>
          <p:cNvSpPr>
            <a:spLocks noGrp="1"/>
          </p:cNvSpPr>
          <p:nvPr/>
        </p:nvSpPr>
        <p:spPr>
          <a:xfrm>
            <a:off x="758190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JSON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2D5D26-4FC6-4D4F-A523-8C601A5F861B}"/>
              </a:ext>
            </a:extLst>
          </p:cNvPr>
          <p:cNvSpPr>
            <a:spLocks noGrp="1"/>
          </p:cNvSpPr>
          <p:nvPr/>
        </p:nvSpPr>
        <p:spPr>
          <a:xfrm>
            <a:off x="758190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Alpaca + history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09B561-6A9E-459E-906A-FB36C8CC90B9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</a:t>
            </a:r>
            <a:r>
              <a:rPr sz="165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老师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F1599E-4EE5-4949-8568-2F295A477A2D}"/>
              </a:ext>
            </a:extLst>
          </p:cNvPr>
          <p:cNvSpPr>
            <a:spLocks noGrp="1"/>
          </p:cNvSpPr>
          <p:nvPr/>
        </p:nvSpPr>
        <p:spPr>
          <a:xfrm>
            <a:off x="1962150" y="396240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91C239-3AAA-4EE0-A5C2-9E2D3F51B1AB}"/>
              </a:ext>
            </a:extLst>
          </p:cNvPr>
          <p:cNvSpPr>
            <a:spLocks noGrp="1"/>
          </p:cNvSpPr>
          <p:nvPr/>
        </p:nvSpPr>
        <p:spPr>
          <a:xfrm>
            <a:off x="1962150" y="3962400"/>
            <a:ext cx="1785741" cy="1714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DED6531-863B-42AF-804B-C6CB37DE1DA1}"/>
              </a:ext>
            </a:extLst>
          </p:cNvPr>
          <p:cNvSpPr>
            <a:spLocks noGrp="1"/>
          </p:cNvSpPr>
          <p:nvPr/>
        </p:nvSpPr>
        <p:spPr>
          <a:xfrm>
            <a:off x="7181850" y="388620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942 / test 105 / total 1047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40C179-2F02-46EE-AB73-A1DB905F288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某同学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F4F4D7-133A-442E-A3C9-59C4E8AC8028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172E54-7D26-4116-8A5F-E0BF72F9F4F8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4953000" cy="1714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7125A1-18A8-4FD5-A8F2-FDC503DF7E89}"/>
              </a:ext>
            </a:extLst>
          </p:cNvPr>
          <p:cNvSpPr>
            <a:spLocks noGrp="1"/>
          </p:cNvSpPr>
          <p:nvPr/>
        </p:nvSpPr>
        <p:spPr>
          <a:xfrm>
            <a:off x="7181850" y="470535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2613 / test 291 / total 2904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39E01F-DDA8-4EDC-9778-C839AF3E66FD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某亲人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E684D27-627F-431E-AAFA-058870EE248D}"/>
              </a:ext>
            </a:extLst>
          </p:cNvPr>
          <p:cNvSpPr>
            <a:spLocks noGrp="1"/>
          </p:cNvSpPr>
          <p:nvPr/>
        </p:nvSpPr>
        <p:spPr>
          <a:xfrm>
            <a:off x="1962150" y="560070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BB76EBE-0C52-4E68-A1FA-9B2BCEB1F2E6}"/>
              </a:ext>
            </a:extLst>
          </p:cNvPr>
          <p:cNvSpPr>
            <a:spLocks noGrp="1"/>
          </p:cNvSpPr>
          <p:nvPr/>
        </p:nvSpPr>
        <p:spPr>
          <a:xfrm>
            <a:off x="1962150" y="5600700"/>
            <a:ext cx="3922831" cy="1714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18AB827-9572-4F62-AC76-DA6E3E4390FE}"/>
              </a:ext>
            </a:extLst>
          </p:cNvPr>
          <p:cNvSpPr>
            <a:spLocks noGrp="1"/>
          </p:cNvSpPr>
          <p:nvPr/>
        </p:nvSpPr>
        <p:spPr>
          <a:xfrm>
            <a:off x="7181850" y="552450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2070 / test 230 / total 2300</a:t>
            </a:r>
          </a:p>
        </p:txBody>
      </p:sp>
    </p:spTree>
    <p:extLst>
      <p:ext uri="{BB962C8B-B14F-4D97-AF65-F5344CB8AC3E}">
        <p14:creationId xmlns:p14="http://schemas.microsoft.com/office/powerpoint/2010/main" val="1360982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EA6F0E4A-154D-4994-ACDC-C907D4B8F13E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TRAIN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5B9984-7B5A-4F28-B36E-47CEDDBF46E9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24465B-E287-4A8B-910E-BA9EF0490609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1C69FD-B9AF-4C80-A59B-AC8AA19C5ADE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BC8A5B-310D-4DBE-8B9C-98C0D9A127E4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17BFF-EF03-46F8-A3E0-B8D721E7E6A0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4DEC67-DDD4-49E6-8975-3BB412047146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584CFD-D5FF-49E9-B114-9A2C8D6D89D0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CC2A76-F736-46C5-A676-7345D8F2DF68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15C37-07B5-40C6-82B1-DBC8EBACCC36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训练配置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42108B-0233-484C-89A2-80200B073BD8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zh-CN" sz="1275" b="1" dirty="0"/>
              <a:t>学习率</a:t>
            </a:r>
            <a:r>
              <a:rPr lang="zh-CN" altLang="en-US" sz="1275" b="1" dirty="0"/>
              <a:t>，</a:t>
            </a:r>
            <a:r>
              <a:rPr lang="zh-CN" altLang="zh-CN" sz="1275" b="1" dirty="0">
                <a:solidFill>
                  <a:srgbClr val="5B6B84"/>
                </a:solidFill>
                <a:latin typeface="Trebuchet MS"/>
              </a:rPr>
              <a:t>每卡一次处理样本</a:t>
            </a:r>
            <a:r>
              <a:rPr lang="zh-CN" altLang="en-US" sz="1275" b="1" dirty="0">
                <a:solidFill>
                  <a:srgbClr val="5B6B84"/>
                </a:solidFill>
                <a:latin typeface="Trebuchet MS"/>
              </a:rPr>
              <a:t>数，</a:t>
            </a:r>
            <a:r>
              <a:rPr lang="zh-CN" altLang="zh-CN" sz="1275" b="1" dirty="0"/>
              <a:t>梯度累积</a:t>
            </a:r>
            <a:r>
              <a:rPr lang="zh-CN" altLang="en-US" sz="1275" b="1" dirty="0"/>
              <a:t>，跑几轮，上下文最大数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DA0539-CC2D-46B1-AA97-7C47974E558D}"/>
              </a:ext>
            </a:extLst>
          </p:cNvPr>
          <p:cNvSpPr>
            <a:spLocks noGrp="1"/>
          </p:cNvSpPr>
          <p:nvPr/>
        </p:nvSpPr>
        <p:spPr>
          <a:xfrm>
            <a:off x="533400" y="2286000"/>
            <a:ext cx="1981200" cy="1066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57A0E9-6CF6-4E44-8F93-0D286EBF73BE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1562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6FB42A-73D2-4CB1-B31F-3960DBA0D0F9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15621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5e-5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972F6C-817B-4B76-AB5B-8928D8637DB2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5621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learning rate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28AF53-BE76-47B0-908E-ACED594D2FD2}"/>
              </a:ext>
            </a:extLst>
          </p:cNvPr>
          <p:cNvSpPr>
            <a:spLocks noGrp="1"/>
          </p:cNvSpPr>
          <p:nvPr/>
        </p:nvSpPr>
        <p:spPr>
          <a:xfrm>
            <a:off x="2667000" y="2286000"/>
            <a:ext cx="1981200" cy="1066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1322BB-1626-4B7C-B6DB-6A7EDF82EEC2}"/>
              </a:ext>
            </a:extLst>
          </p:cNvPr>
          <p:cNvSpPr>
            <a:spLocks noGrp="1"/>
          </p:cNvSpPr>
          <p:nvPr/>
        </p:nvSpPr>
        <p:spPr>
          <a:xfrm>
            <a:off x="2876550" y="2457450"/>
            <a:ext cx="1562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BATCH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C2348B-B973-4D73-9DFD-CDDA7C98D313}"/>
              </a:ext>
            </a:extLst>
          </p:cNvPr>
          <p:cNvSpPr>
            <a:spLocks noGrp="1"/>
          </p:cNvSpPr>
          <p:nvPr/>
        </p:nvSpPr>
        <p:spPr>
          <a:xfrm>
            <a:off x="2876550" y="2705100"/>
            <a:ext cx="15621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570922-C798-4BBF-9854-9386AA723F5C}"/>
              </a:ext>
            </a:extLst>
          </p:cNvPr>
          <p:cNvSpPr>
            <a:spLocks noGrp="1"/>
          </p:cNvSpPr>
          <p:nvPr/>
        </p:nvSpPr>
        <p:spPr>
          <a:xfrm>
            <a:off x="2876550" y="3028950"/>
            <a:ext cx="15621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per device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B779D7-6943-477B-B1DE-7C9B5C651D91}"/>
              </a:ext>
            </a:extLst>
          </p:cNvPr>
          <p:cNvSpPr>
            <a:spLocks noGrp="1"/>
          </p:cNvSpPr>
          <p:nvPr/>
        </p:nvSpPr>
        <p:spPr>
          <a:xfrm>
            <a:off x="4800600" y="2286000"/>
            <a:ext cx="1981200" cy="1066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93D0A8-E859-47C7-B2E0-D2DA76D47C23}"/>
              </a:ext>
            </a:extLst>
          </p:cNvPr>
          <p:cNvSpPr>
            <a:spLocks noGrp="1"/>
          </p:cNvSpPr>
          <p:nvPr/>
        </p:nvSpPr>
        <p:spPr>
          <a:xfrm>
            <a:off x="5010150" y="2457450"/>
            <a:ext cx="1562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GRAD ACC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05C52F-F615-4DBC-9FF2-83C3B73A9769}"/>
              </a:ext>
            </a:extLst>
          </p:cNvPr>
          <p:cNvSpPr>
            <a:spLocks noGrp="1"/>
          </p:cNvSpPr>
          <p:nvPr/>
        </p:nvSpPr>
        <p:spPr>
          <a:xfrm>
            <a:off x="5010150" y="2705100"/>
            <a:ext cx="15621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C3CEBF-EBA0-47EE-887C-53108035F160}"/>
              </a:ext>
            </a:extLst>
          </p:cNvPr>
          <p:cNvSpPr>
            <a:spLocks noGrp="1"/>
          </p:cNvSpPr>
          <p:nvPr/>
        </p:nvSpPr>
        <p:spPr>
          <a:xfrm>
            <a:off x="5010150" y="3028950"/>
            <a:ext cx="15621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gradient accumulation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A84AD2-DA1E-4704-B155-FD85F8779BE0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1981200" cy="1066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0FAB8A-8915-4B81-9E4A-3153A7DC1B75}"/>
              </a:ext>
            </a:extLst>
          </p:cNvPr>
          <p:cNvSpPr>
            <a:spLocks noGrp="1"/>
          </p:cNvSpPr>
          <p:nvPr/>
        </p:nvSpPr>
        <p:spPr>
          <a:xfrm>
            <a:off x="7143750" y="2457450"/>
            <a:ext cx="1562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EPOCHS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E3D9A5-EB98-4060-94D8-6C26570CD860}"/>
              </a:ext>
            </a:extLst>
          </p:cNvPr>
          <p:cNvSpPr>
            <a:spLocks noGrp="1"/>
          </p:cNvSpPr>
          <p:nvPr/>
        </p:nvSpPr>
        <p:spPr>
          <a:xfrm>
            <a:off x="7143750" y="2705100"/>
            <a:ext cx="15621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250" b="1" dirty="0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2250" b="1" i="0" dirty="0">
              <a:solidFill>
                <a:srgbClr val="F3C969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D2F57A3-5AEC-4447-A0DA-A2C107878AA2}"/>
              </a:ext>
            </a:extLst>
          </p:cNvPr>
          <p:cNvSpPr>
            <a:spLocks noGrp="1"/>
          </p:cNvSpPr>
          <p:nvPr/>
        </p:nvSpPr>
        <p:spPr>
          <a:xfrm>
            <a:off x="7143750" y="3028950"/>
            <a:ext cx="15621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configured in yaml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7AA6B4-A8CC-4470-B318-FA98A0261137}"/>
              </a:ext>
            </a:extLst>
          </p:cNvPr>
          <p:cNvSpPr>
            <a:spLocks noGrp="1"/>
          </p:cNvSpPr>
          <p:nvPr/>
        </p:nvSpPr>
        <p:spPr>
          <a:xfrm>
            <a:off x="9067800" y="2286000"/>
            <a:ext cx="1981200" cy="1066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5C814AD-E863-41E5-A0C6-15474DDE76F2}"/>
              </a:ext>
            </a:extLst>
          </p:cNvPr>
          <p:cNvSpPr>
            <a:spLocks noGrp="1"/>
          </p:cNvSpPr>
          <p:nvPr/>
        </p:nvSpPr>
        <p:spPr>
          <a:xfrm>
            <a:off x="9277350" y="2457450"/>
            <a:ext cx="1562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CONTEXT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6824A6A-3FD9-40D5-8F81-E27F4338B01B}"/>
              </a:ext>
            </a:extLst>
          </p:cNvPr>
          <p:cNvSpPr>
            <a:spLocks noGrp="1"/>
          </p:cNvSpPr>
          <p:nvPr/>
        </p:nvSpPr>
        <p:spPr>
          <a:xfrm>
            <a:off x="9277350" y="2705100"/>
            <a:ext cx="15621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2048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B941CC1-C098-4C81-8CD0-820B7A6AA6CE}"/>
              </a:ext>
            </a:extLst>
          </p:cNvPr>
          <p:cNvSpPr>
            <a:spLocks noGrp="1"/>
          </p:cNvSpPr>
          <p:nvPr/>
        </p:nvSpPr>
        <p:spPr>
          <a:xfrm>
            <a:off x="9277350" y="3028950"/>
            <a:ext cx="15621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cutoff length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8AB07B0-1BD4-40B5-BB50-D9AABE721100}"/>
              </a:ext>
            </a:extLst>
          </p:cNvPr>
          <p:cNvSpPr>
            <a:spLocks noGrp="1"/>
          </p:cNvSpPr>
          <p:nvPr/>
        </p:nvSpPr>
        <p:spPr>
          <a:xfrm>
            <a:off x="533400" y="3730519"/>
            <a:ext cx="11125200" cy="2381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08DF1AF-8304-4B9C-A73F-82CF59E7E40F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26670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TRAINING NOTES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092DC9D-677E-4B00-92CA-7CFAAEEB48A1}"/>
              </a:ext>
            </a:extLst>
          </p:cNvPr>
          <p:cNvSpPr>
            <a:spLocks noGrp="1"/>
          </p:cNvSpPr>
          <p:nvPr/>
        </p:nvSpPr>
        <p:spPr>
          <a:xfrm>
            <a:off x="819150" y="4524375"/>
            <a:ext cx="95250" cy="952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3BADF17-1E84-4463-B1A7-C070E4F65FD7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9715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575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基座：Qwen2.5-7B-Instruct；框架：LLaMA-Factory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BBF259-64BB-4265-B5F2-371E26B294ED}"/>
              </a:ext>
            </a:extLst>
          </p:cNvPr>
          <p:cNvSpPr>
            <a:spLocks noGrp="1"/>
          </p:cNvSpPr>
          <p:nvPr/>
        </p:nvSpPr>
        <p:spPr>
          <a:xfrm>
            <a:off x="819150" y="5095875"/>
            <a:ext cx="95250" cy="952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330DC4-E059-4BE5-A742-BF4022CCF48E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9715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zh-CN" dirty="0"/>
              <a:t>训练使用</a:t>
            </a:r>
            <a:r>
              <a:rPr lang="en-US" altLang="zh-CN" dirty="0"/>
              <a:t> bf16 </a:t>
            </a:r>
            <a:r>
              <a:rPr lang="zh-CN" altLang="zh-CN" dirty="0"/>
              <a:t>精度，学习率为</a:t>
            </a:r>
            <a:r>
              <a:rPr lang="en-US" altLang="zh-CN" dirty="0"/>
              <a:t> 5e-5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rgbClr val="FF0000"/>
                </a:solidFill>
              </a:rPr>
              <a:t>每卡</a:t>
            </a:r>
            <a:r>
              <a:rPr lang="en-US" altLang="zh-CN" dirty="0">
                <a:solidFill>
                  <a:srgbClr val="FF0000"/>
                </a:solidFill>
              </a:rPr>
              <a:t> batch size </a:t>
            </a:r>
            <a:r>
              <a:rPr lang="zh-CN" altLang="zh-CN" dirty="0">
                <a:solidFill>
                  <a:srgbClr val="FF0000"/>
                </a:solidFill>
              </a:rPr>
              <a:t>为</a:t>
            </a:r>
            <a:r>
              <a:rPr lang="en-US" altLang="zh-CN" dirty="0">
                <a:solidFill>
                  <a:srgbClr val="FF0000"/>
                </a:solidFill>
              </a:rPr>
              <a:t> 2</a:t>
            </a:r>
            <a:r>
              <a:rPr lang="zh-CN" altLang="en-US" dirty="0">
                <a:solidFill>
                  <a:srgbClr val="FF0000"/>
                </a:solidFill>
              </a:rPr>
              <a:t>（某亲人除外）</a:t>
            </a:r>
            <a:r>
              <a:rPr lang="zh-CN" altLang="zh-CN" dirty="0"/>
              <a:t>，梯度累积步数为</a:t>
            </a:r>
            <a:r>
              <a:rPr lang="en-US" altLang="zh-CN" dirty="0"/>
              <a:t> 8</a:t>
            </a:r>
            <a:r>
              <a:rPr lang="zh-CN" altLang="zh-CN" dirty="0"/>
              <a:t>，训练</a:t>
            </a:r>
            <a:r>
              <a:rPr lang="en-US" altLang="zh-CN" dirty="0"/>
              <a:t> 3 </a:t>
            </a:r>
            <a:r>
              <a:rPr lang="zh-CN" altLang="zh-CN" dirty="0"/>
              <a:t>个</a:t>
            </a:r>
            <a:r>
              <a:rPr lang="en-US" altLang="zh-CN" dirty="0"/>
              <a:t> epoch</a:t>
            </a:r>
          </a:p>
          <a:p>
            <a:endParaRPr lang="en-US" altLang="zh-CN" dirty="0"/>
          </a:p>
          <a:p>
            <a:r>
              <a:rPr lang="zh-CN" altLang="zh-CN" dirty="0"/>
              <a:t>最大上下文长度为</a:t>
            </a:r>
            <a:r>
              <a:rPr lang="en-US" altLang="zh-CN" dirty="0"/>
              <a:t> 2048</a:t>
            </a:r>
            <a:r>
              <a:rPr lang="zh-CN" altLang="en-US" dirty="0"/>
              <a:t>个</a:t>
            </a:r>
            <a:r>
              <a:rPr lang="en-US" altLang="zh-CN" dirty="0"/>
              <a:t>token</a:t>
            </a:r>
            <a:r>
              <a:rPr lang="zh-CN" altLang="zh-CN" dirty="0"/>
              <a:t>。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644A89D3-9E5F-CE3D-E033-A81D03AB1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49" y="546484"/>
            <a:ext cx="4067287" cy="158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8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7AF66-02DA-FD5D-1E9C-FBB22C1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B331E0-13DD-5D69-8536-26451696CEDA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C</a:t>
            </a:r>
            <a:r>
              <a:rPr lang="en-US" altLang="zh-CN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ase Study——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基准（微调前）模型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FAB41A-8F08-7446-1898-257081026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8" y="2041446"/>
            <a:ext cx="11256281" cy="277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3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0CF35-EFA0-3BA7-30A3-6C2468F8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2C6AC7-C4ED-1925-B482-5BD901FB6D71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C</a:t>
            </a:r>
            <a:r>
              <a:rPr lang="en-US" altLang="zh-CN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ase Study——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某同学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2E5FA1-641C-33E9-F5A7-A90E234F7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72391"/>
            <a:ext cx="10366513" cy="28332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9B6F78-31CD-2EF4-BC6A-954F83581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5" t="19172" r="19315" b="-918"/>
          <a:stretch>
            <a:fillRect/>
          </a:stretch>
        </p:blipFill>
        <p:spPr>
          <a:xfrm>
            <a:off x="4448478" y="800888"/>
            <a:ext cx="2179346" cy="56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B06C8-1E5D-D1A3-3AF7-339F71FB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6E9C1F-13A2-3408-D3B8-AB4748F0ACFF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C</a:t>
            </a:r>
            <a:r>
              <a:rPr lang="en-US" altLang="zh-CN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ase Study——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某老师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D62CB5-8C13-D893-F336-6288424E9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96" y="1995337"/>
            <a:ext cx="10879610" cy="30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50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FB278-1D68-CF93-654B-A1066D84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647A3B-6461-7DB2-F9CF-BE44880EEDA4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C</a:t>
            </a:r>
            <a:r>
              <a:rPr lang="en-US" altLang="zh-CN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ase Study——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某亲人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39CE36-86E7-D6C3-F530-AD978134E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7" y="2395331"/>
            <a:ext cx="10312894" cy="262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CE628EA-3048-4D40-8B49-CC95DFD7C5B7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EVAL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DC9C47-3D8A-4B80-B2F7-B04BFB32CE7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51E78F-1391-433D-9DA6-0B12F2A35785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792446-0C18-4DC5-9423-EB7F7377122C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6470A8-D252-4B56-B4B7-938D7FD138E2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E8FDE3-B526-4CC9-AA2E-DB9506062B48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05119-ABC6-4B8F-AADC-3D4DDEEAF56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9DBA55-49C6-4EE2-A044-8FF614A0EFDB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743447-496C-4108-9DAB-CDA8D68A76FF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0BADB1-DADF-412A-922B-5477F760E4CE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BF2FB5-0193-40F3-8243-D895E3C9E582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B097E5-293E-402E-B77B-6D7150A7A6FC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9F1490-9D41-4803-84A2-8A385D513EC0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D131DD-F96F-4F76-965A-F3FBE6F60D87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80EE64-4651-4B76-AC03-F150806A85B8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五层评测体系（上）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7DF45D-51B6-4BB2-991C-8F3F236FE5AE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重点关注</a:t>
            </a:r>
            <a:r>
              <a:rPr lang="en-US" altLang="zh-CN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L4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、</a:t>
            </a:r>
            <a:r>
              <a:rPr lang="en-US" altLang="zh-CN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L5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。</a:t>
            </a:r>
            <a:r>
              <a:rPr lang="en-US" altLang="zh-CN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L1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，</a:t>
            </a:r>
            <a:r>
              <a:rPr lang="en-US" altLang="zh-CN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L2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，</a:t>
            </a:r>
            <a:r>
              <a:rPr lang="en-US" altLang="zh-CN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L3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比较死板。问一个问题，符合特定角色风格的回复有很多，但是标准答案（真实回复）只有一个。</a:t>
            </a:r>
            <a:endParaRPr sz="1275" b="0" i="0" dirty="0">
              <a:solidFill>
                <a:srgbClr val="FF0000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2AA515-DB28-4E4E-95ED-4E336695A201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0668000" cy="10096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93DB24-40D7-47B5-B603-C6989E052B17}"/>
              </a:ext>
            </a:extLst>
          </p:cNvPr>
          <p:cNvSpPr>
            <a:spLocks noGrp="1"/>
          </p:cNvSpPr>
          <p:nvPr/>
        </p:nvSpPr>
        <p:spPr>
          <a:xfrm>
            <a:off x="1047750" y="2609850"/>
            <a:ext cx="2286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L1 传统文本指标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93F480-0586-45AF-ADE2-2D558B9C75AA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6667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BLEU4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EA7F04-00EB-42FD-8EC6-A12F65A662E2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10668000" cy="10096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359587-526B-46FE-8923-46B477A04777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286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L2 </a:t>
            </a:r>
            <a:r>
              <a:rPr sz="1800" b="1" i="0" dirty="0" err="1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语义相似度</a:t>
            </a:r>
            <a:endParaRPr sz="1800" b="1" i="0" dirty="0">
              <a:solidFill>
                <a:srgbClr val="56F0C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B16000-E750-4F96-A9BB-7BB059C8D42C}"/>
              </a:ext>
            </a:extLst>
          </p:cNvPr>
          <p:cNvSpPr>
            <a:spLocks noGrp="1"/>
          </p:cNvSpPr>
          <p:nvPr/>
        </p:nvSpPr>
        <p:spPr>
          <a:xfrm>
            <a:off x="3771900" y="3848100"/>
            <a:ext cx="6667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Embedding Cosine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8704A7-5FD9-40AC-A0BA-93BA5FF628A2}"/>
              </a:ext>
            </a:extLst>
          </p:cNvPr>
          <p:cNvSpPr>
            <a:spLocks noGrp="1"/>
          </p:cNvSpPr>
          <p:nvPr/>
        </p:nvSpPr>
        <p:spPr>
          <a:xfrm>
            <a:off x="762000" y="4876800"/>
            <a:ext cx="10668000" cy="10096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3F018E-D964-4B1B-8B4A-C3E7575A0B24}"/>
              </a:ext>
            </a:extLst>
          </p:cNvPr>
          <p:cNvSpPr>
            <a:spLocks noGrp="1"/>
          </p:cNvSpPr>
          <p:nvPr/>
        </p:nvSpPr>
        <p:spPr>
          <a:xfrm>
            <a:off x="1047750" y="5086350"/>
            <a:ext cx="2286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 dirty="0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L3 </a:t>
            </a:r>
            <a:r>
              <a:rPr sz="1800" b="1" i="0" dirty="0" err="1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风格细节</a:t>
            </a:r>
            <a:r>
              <a:rPr lang="zh-CN" altLang="en-US" sz="1800" b="1" i="0" dirty="0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相似度</a:t>
            </a:r>
            <a:endParaRPr sz="1800" b="1" i="0" dirty="0">
              <a:solidFill>
                <a:srgbClr val="F3C969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22A117-3846-4C2D-8C04-9C7EDDA40260}"/>
              </a:ext>
            </a:extLst>
          </p:cNvPr>
          <p:cNvSpPr>
            <a:spLocks noGrp="1"/>
          </p:cNvSpPr>
          <p:nvPr/>
        </p:nvSpPr>
        <p:spPr>
          <a:xfrm>
            <a:off x="3771900" y="5086350"/>
            <a:ext cx="6667500" cy="4381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Length_Sim</a:t>
            </a:r>
            <a:r>
              <a:rPr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Punctuation_Sim</a:t>
            </a:r>
            <a:r>
              <a:rPr sz="16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sz="16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Modal_Sim</a:t>
            </a:r>
            <a:endParaRPr sz="165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50680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156D564-67DB-4274-8D16-EC9422D41257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EVAL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099666-A814-4ECB-BAA6-A7BDA5C656F6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8D8A07-C0F4-4645-846A-295BA75F880B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F1D0D3-928E-4B84-AEE6-A1DB69FD2F74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2015FA-3BBC-4D2E-90B5-798696210164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61E62B-D9C8-4F80-AEF8-5311D0A5DD49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2406FC-0001-4EA5-B547-A79A6A0BD912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26A6C5-AB05-4247-B081-0494C687D05D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72B49A-1AA0-4BBF-9270-1F49834E96E0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CA2AEF-CBE8-4492-BB90-82A13E0E030C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F73CD7-0268-4BE0-8E66-5ACBECEE9668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F5AB21-998E-4BDC-9903-C47A5E3B7FB3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2DB824-28D8-47B1-A225-4D8CD421381A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94EE3A-3DEA-4658-87FA-9633034ECC97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B1541C-CC15-4819-823E-F357C97BE895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五层评测体系（下）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EF1427-8FE4-49A1-A522-5E3BEA9FAD1E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8125022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L4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：使用大模型作为裁判，评判语气语义、合理度、表达习惯（分别对</a:t>
            </a:r>
            <a:r>
              <a:rPr lang="en-US" altLang="zh-CN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base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模型回复和微调模型回复打分） </a:t>
            </a:r>
            <a:r>
              <a:rPr lang="en-US" altLang="zh-CN" sz="1275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winrate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：原模型和微调模型谁在</a:t>
            </a:r>
            <a:r>
              <a:rPr lang="zh-CN" altLang="en-US" sz="1275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</a:rPr>
              <a:t>风格上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更像真实答案。</a:t>
            </a:r>
            <a:endParaRPr lang="en-US" altLang="zh-CN" sz="1275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</a:t>
            </a:r>
            <a:r>
              <a:rPr 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5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：被干扰后整体回复偏移了多少；模型多条回复风格是否一致。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EB03A4-A02E-4E75-95D4-239632C00E28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0363200" cy="12001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3A4930-1913-44A4-9140-E1153FB32FF2}"/>
              </a:ext>
            </a:extLst>
          </p:cNvPr>
          <p:cNvSpPr>
            <a:spLocks noGrp="1"/>
          </p:cNvSpPr>
          <p:nvPr/>
        </p:nvSpPr>
        <p:spPr>
          <a:xfrm>
            <a:off x="1200150" y="2800350"/>
            <a:ext cx="2667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9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 i="0" dirty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L4 LLM-as-a-Judge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C7547D-CE5A-4567-A1A7-BB93988CBCC3}"/>
              </a:ext>
            </a:extLst>
          </p:cNvPr>
          <p:cNvSpPr>
            <a:spLocks noGrp="1"/>
          </p:cNvSpPr>
          <p:nvPr/>
        </p:nvSpPr>
        <p:spPr>
          <a:xfrm>
            <a:off x="4095750" y="2800350"/>
            <a:ext cx="6191250" cy="533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Tone / Semantic / Fidelity / Win Rate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2084C2-DB8A-4289-8F4E-5F0A5FDE8F65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10363200" cy="1200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D5E133-6AD5-4B4A-B3F6-AC987E7C3FB7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2667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9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L5 稳定性与漂移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4F95426-A992-407F-A0A6-C03906A39CF6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6191250" cy="533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Adversarial_Drift</a:t>
            </a:r>
            <a:r>
              <a:rPr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sz="180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Style_Consistency</a:t>
            </a:r>
            <a:endParaRPr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93689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0CD5A-FE0A-F861-772D-2C81BA04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4B3197-22F8-1667-E2E3-A7A1AA2BC3F4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EVAL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271EDC-AC0E-1426-CCC5-CF74204C3209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B1DBDA-5601-ECCA-EC53-8BE09A8CF9DA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470281-615C-4BB2-05D3-C608066C8012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AF53F5-20DB-6DB4-1CB4-72B8FDCE5A1D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54CB41-F402-3C1A-94F9-2BD9752B179B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0CB22-65B7-5E21-52BA-9C660F7AA6AC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194AB3-F840-0C50-8CFC-FB3038706DC5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8DE07-752E-14C5-A6DC-7064C817EBA5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490F61-3F58-4A6F-90BF-FA731BB60DF0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DC6BD8-5617-5BB9-4E02-35982804DEA8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25A6D5-93F8-BDAE-AEED-EB50F7B90A9E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D37A4A-99B8-973C-77A5-1F447E7CEC9C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88BE1-EDC6-B912-0EC7-2FD6F5704DCB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3D8BCE-5A67-D398-E808-079D9B5DF129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L4: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大模型作为裁判员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0EE7E20-E89A-1951-D1FC-4B0F3E518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1428750"/>
            <a:ext cx="5396333" cy="511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4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124A7-A188-F1E7-DBA7-CDDDC564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B1CFB3D8-10DD-7E00-F3CB-A2DC6DFD039F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CB09D4-2551-F619-5142-277789CE11DD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382C84-EB43-0A6E-E73A-9EDEABB2E872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D9B611-0ACA-38E2-A006-01AE7BB7A80A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BFE81E-0D31-116C-5799-03088422D430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D97691-570C-71C8-6D4B-FC67CB81F127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4ED767-3FA1-269F-7258-90418FEA89E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877255-EDD2-A70F-CF0D-EAB9684A7545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9F54FB-02E8-4B1A-E3A6-3D9FACBFB4C2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B0FF6C-C20E-554C-EF9D-7A2EEF867964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9FC153-3E7B-74BF-2847-142B481202C3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05BB61-BAAB-9728-4607-E3640A092988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BAD61F-7066-87D8-070A-783D979D5F3B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ADEA98-C067-99E2-55A7-AD55F7C16F82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4E24D7-3FC9-D7CF-47A4-D4ECD81DF920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测试集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：3 位人物、</a:t>
            </a:r>
            <a:r>
              <a:rPr 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626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条样本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62149F-999E-3963-54B8-ED561EE54FDF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dirty="0"/>
              <a:t>为何选这三位目标人物：</a:t>
            </a:r>
            <a:r>
              <a:rPr lang="zh-CN" altLang="zh-CN" sz="1275" dirty="0">
                <a:solidFill>
                  <a:schemeClr val="accent2"/>
                </a:solidFill>
              </a:rPr>
              <a:t>样本量</a:t>
            </a:r>
            <a:r>
              <a:rPr lang="en-US" altLang="zh-CN" sz="1275" dirty="0">
                <a:solidFill>
                  <a:schemeClr val="accent2"/>
                </a:solidFill>
              </a:rPr>
              <a:t>+</a:t>
            </a:r>
            <a:r>
              <a:rPr lang="zh-CN" altLang="en-US" sz="1275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</a:rPr>
              <a:t>日常对话的三类目标对象</a:t>
            </a:r>
            <a:endParaRPr sz="1275" b="0" i="0" dirty="0">
              <a:solidFill>
                <a:schemeClr val="accent2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530E90-DB91-AB25-F579-0A06568422DE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02E74D-9BDE-98F6-E818-B9BB4065D75C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TRAIN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485392-D6A6-3D73-DB30-26BD7DA103A5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5625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5A7728-E6A5-33B5-3A96-E5F14D087509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全部训练集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53D3F0-8129-B482-6B96-6AEF72914522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516FD4-C168-01E1-1939-14AC862D7BFE}"/>
              </a:ext>
            </a:extLst>
          </p:cNvPr>
          <p:cNvSpPr>
            <a:spLocks noGrp="1"/>
          </p:cNvSpPr>
          <p:nvPr/>
        </p:nvSpPr>
        <p:spPr>
          <a:xfrm>
            <a:off x="304800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TEST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695583-BD5F-CE18-5E28-BF3A0C721FFE}"/>
              </a:ext>
            </a:extLst>
          </p:cNvPr>
          <p:cNvSpPr>
            <a:spLocks noGrp="1"/>
          </p:cNvSpPr>
          <p:nvPr/>
        </p:nvSpPr>
        <p:spPr>
          <a:xfrm>
            <a:off x="304800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626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93CF8C-FE78-52F0-3907-77F83DAB1EBB}"/>
              </a:ext>
            </a:extLst>
          </p:cNvPr>
          <p:cNvSpPr>
            <a:spLocks noGrp="1"/>
          </p:cNvSpPr>
          <p:nvPr/>
        </p:nvSpPr>
        <p:spPr>
          <a:xfrm>
            <a:off x="304800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全部测试集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1D8590-C1AF-0E23-46E0-38A2FBDD3F7F}"/>
              </a:ext>
            </a:extLst>
          </p:cNvPr>
          <p:cNvSpPr>
            <a:spLocks noGrp="1"/>
          </p:cNvSpPr>
          <p:nvPr/>
        </p:nvSpPr>
        <p:spPr>
          <a:xfrm>
            <a:off x="510540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92D57C-5D66-4E5E-64F5-E6606D885C39}"/>
              </a:ext>
            </a:extLst>
          </p:cNvPr>
          <p:cNvSpPr>
            <a:spLocks noGrp="1"/>
          </p:cNvSpPr>
          <p:nvPr/>
        </p:nvSpPr>
        <p:spPr>
          <a:xfrm>
            <a:off x="531495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PERSONAS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AA4521-193A-8558-93D8-DF46F7EF5237}"/>
              </a:ext>
            </a:extLst>
          </p:cNvPr>
          <p:cNvSpPr>
            <a:spLocks noGrp="1"/>
          </p:cNvSpPr>
          <p:nvPr/>
        </p:nvSpPr>
        <p:spPr>
          <a:xfrm>
            <a:off x="531495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2380EC-4179-2813-4791-69A0A0D179D3}"/>
              </a:ext>
            </a:extLst>
          </p:cNvPr>
          <p:cNvSpPr>
            <a:spLocks noGrp="1"/>
          </p:cNvSpPr>
          <p:nvPr/>
        </p:nvSpPr>
        <p:spPr>
          <a:xfrm>
            <a:off x="531495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人物</a:t>
            </a:r>
            <a:r>
              <a:rPr lang="zh-CN" altLang="en-US"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数量</a:t>
            </a:r>
            <a:endParaRPr sz="900" b="0" i="0" dirty="0">
              <a:solidFill>
                <a:srgbClr val="7F90A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34245E-3683-E94D-BA8D-8719BD1B628A}"/>
              </a:ext>
            </a:extLst>
          </p:cNvPr>
          <p:cNvSpPr>
            <a:spLocks noGrp="1"/>
          </p:cNvSpPr>
          <p:nvPr/>
        </p:nvSpPr>
        <p:spPr>
          <a:xfrm>
            <a:off x="7372350" y="2228850"/>
            <a:ext cx="2095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92ADE4-FA5D-7354-B347-17C331244964}"/>
              </a:ext>
            </a:extLst>
          </p:cNvPr>
          <p:cNvSpPr>
            <a:spLocks noGrp="1"/>
          </p:cNvSpPr>
          <p:nvPr/>
        </p:nvSpPr>
        <p:spPr>
          <a:xfrm>
            <a:off x="7581900" y="2400300"/>
            <a:ext cx="1676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FORMAT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F2F8BF-36FF-2DE9-1CCA-987A8F8A52D2}"/>
              </a:ext>
            </a:extLst>
          </p:cNvPr>
          <p:cNvSpPr>
            <a:spLocks noGrp="1"/>
          </p:cNvSpPr>
          <p:nvPr/>
        </p:nvSpPr>
        <p:spPr>
          <a:xfrm>
            <a:off x="7581900" y="2647950"/>
            <a:ext cx="1676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3C969"/>
                </a:solidFill>
                <a:latin typeface="Trebuchet MS"/>
                <a:ea typeface="Trebuchet MS"/>
                <a:cs typeface="Trebuchet MS"/>
              </a:rPr>
              <a:t>JSON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124201-C667-147B-CBC5-2080D063352D}"/>
              </a:ext>
            </a:extLst>
          </p:cNvPr>
          <p:cNvSpPr>
            <a:spLocks noGrp="1"/>
          </p:cNvSpPr>
          <p:nvPr/>
        </p:nvSpPr>
        <p:spPr>
          <a:xfrm>
            <a:off x="7581900" y="2952750"/>
            <a:ext cx="1676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Alpaca + history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BC29EA-AB33-1D75-CCBB-DDA618632DBA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</a:t>
            </a:r>
            <a:r>
              <a:rPr sz="165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老师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4D7EA52-B489-13A0-84EA-43E306899693}"/>
              </a:ext>
            </a:extLst>
          </p:cNvPr>
          <p:cNvSpPr>
            <a:spLocks noGrp="1"/>
          </p:cNvSpPr>
          <p:nvPr/>
        </p:nvSpPr>
        <p:spPr>
          <a:xfrm>
            <a:off x="1962150" y="396240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46C8189-9905-E9BB-4BCB-290869B51CB8}"/>
              </a:ext>
            </a:extLst>
          </p:cNvPr>
          <p:cNvSpPr>
            <a:spLocks noGrp="1"/>
          </p:cNvSpPr>
          <p:nvPr/>
        </p:nvSpPr>
        <p:spPr>
          <a:xfrm>
            <a:off x="1962150" y="3962400"/>
            <a:ext cx="1785741" cy="1714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18CDAF4-51EB-4409-B305-6B38EB368CF3}"/>
              </a:ext>
            </a:extLst>
          </p:cNvPr>
          <p:cNvSpPr>
            <a:spLocks noGrp="1"/>
          </p:cNvSpPr>
          <p:nvPr/>
        </p:nvSpPr>
        <p:spPr>
          <a:xfrm>
            <a:off x="7181850" y="388620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942 / </a:t>
            </a:r>
            <a:r>
              <a:rPr sz="1350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test 105 </a:t>
            </a: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/ total 1047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51E7E3-FAB6-2BFF-90F5-FC43D85AA5F6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某同学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44784B-AEB8-D95E-89CC-35521C49C3D5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404CDA-9CD0-FD5B-2B0C-D526283F7D6D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4953000" cy="1714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235787-7A23-5B93-6728-798276F420FB}"/>
              </a:ext>
            </a:extLst>
          </p:cNvPr>
          <p:cNvSpPr>
            <a:spLocks noGrp="1"/>
          </p:cNvSpPr>
          <p:nvPr/>
        </p:nvSpPr>
        <p:spPr>
          <a:xfrm>
            <a:off x="7181850" y="470535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2613 / </a:t>
            </a:r>
            <a:r>
              <a:rPr sz="1350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test 291 </a:t>
            </a: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/ total 2904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4B2D5C-D7EA-67E6-2EA0-839A15EBB75B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1430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65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65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某亲人</a:t>
            </a:r>
            <a:endParaRPr sz="165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6CD31B2-4DBC-9CC1-6111-6730378A2B4B}"/>
              </a:ext>
            </a:extLst>
          </p:cNvPr>
          <p:cNvSpPr>
            <a:spLocks noGrp="1"/>
          </p:cNvSpPr>
          <p:nvPr/>
        </p:nvSpPr>
        <p:spPr>
          <a:xfrm>
            <a:off x="1962150" y="5600700"/>
            <a:ext cx="4953000" cy="1714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A6C6244-BFC1-9767-6DB8-2290E9E37805}"/>
              </a:ext>
            </a:extLst>
          </p:cNvPr>
          <p:cNvSpPr>
            <a:spLocks noGrp="1"/>
          </p:cNvSpPr>
          <p:nvPr/>
        </p:nvSpPr>
        <p:spPr>
          <a:xfrm>
            <a:off x="1962150" y="5600700"/>
            <a:ext cx="3922831" cy="1714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ADFBCFE-AA98-D05D-4E41-64841C320953}"/>
              </a:ext>
            </a:extLst>
          </p:cNvPr>
          <p:cNvSpPr>
            <a:spLocks noGrp="1"/>
          </p:cNvSpPr>
          <p:nvPr/>
        </p:nvSpPr>
        <p:spPr>
          <a:xfrm>
            <a:off x="7181850" y="5524500"/>
            <a:ext cx="33337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 2070 / </a:t>
            </a:r>
            <a:r>
              <a:rPr sz="1350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test 230 </a:t>
            </a:r>
            <a:r>
              <a:rPr sz="13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/ total 2300</a:t>
            </a:r>
          </a:p>
        </p:txBody>
      </p:sp>
    </p:spTree>
    <p:extLst>
      <p:ext uri="{BB962C8B-B14F-4D97-AF65-F5344CB8AC3E}">
        <p14:creationId xmlns:p14="http://schemas.microsoft.com/office/powerpoint/2010/main" val="1753643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108E5-E67E-A9AF-C789-B50837A1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DE22DE4-8EE3-16F0-C4DB-569FBBFF6552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EVAL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814E5E-68F0-FF6A-6761-F212702A9B28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39F11B-E37F-5330-9CB9-0696DA76B6AE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F87B3C-7757-28F6-B6C9-E9D55193A25E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189A40-7C65-9AAB-B395-72FEA17B6007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63E4E5-56A2-B6D6-3951-1801628B27A0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6957-27D9-B706-95CE-E867F673CE6E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CCAA3A-5010-B9D4-B5C1-BCA2DDB5C3A4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EB714E-4BAC-4E3F-9DA6-3EF45C8312B8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031CB1-6834-FC06-8097-355C6F22782F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C525B1-025D-8609-A0EE-1DAD769BAB2E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1D595B-2877-812B-C94F-7BA83CF6CF16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BDABE0-D046-5696-892A-25CFE315821B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2D705-6D6E-11BC-E804-927D101F98DC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220978-FD90-3EA6-D2DE-D5EDBAA9D45B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评测数据集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14C1D09-CAD1-EEFC-82B2-1DFF2D04A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902" y="1447800"/>
            <a:ext cx="9044298" cy="493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6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BA60D0D2-DD13-4D48-8ED2-2CFC31102F06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191185-1151-495D-87F5-418A5399BF77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E77E45-EEA9-4A15-85B9-EFA05CBF56AE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E50F44-686E-4D2E-9A24-9989C2F69715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7F7F1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F1BB35-3583-4D5A-B610-3728F6E5BDAA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78A83E-2262-41AD-B7FE-7E9DB5F24D09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E614BE-EEBC-4B3F-B793-A3B4DA4E3397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F442E0-5BCA-4CBC-8D61-AAD003526C29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BA1F22-CC12-4E8E-B817-F499D8EA5339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4B45F0-3015-47F6-9E96-4FB4EF341F6F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60CC42-2DBB-4DB9-946C-64B536DB3DC1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7FFA66-6240-4CF2-BB44-BFD957055C97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1C5D91-D5D9-4C01-B311-1FA9BE4EB0A4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2FA526-8320-4B47-8AA1-71D012CF3475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560AAA-E5C1-4E6E-A0AA-A2605F89737D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平均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：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效果整体不错，除了</a:t>
            </a:r>
            <a:r>
              <a:rPr lang="en-US" altLang="zh-CN"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winrate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指标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5684F6-E610-4308-849E-F15109209A29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B37133-07D5-4A09-AF91-650FC174B19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3D3CF3-0424-4C32-852B-621019CE56FA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BLEU4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6E5FB6-F56E-414F-AB87-47626515F0B5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0.0093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C0EE86-635E-4B28-ADFD-593758507C4B}"/>
              </a:ext>
            </a:extLst>
          </p:cNvPr>
          <p:cNvSpPr>
            <a:spLocks noGrp="1"/>
          </p:cNvSpPr>
          <p:nvPr/>
        </p:nvSpPr>
        <p:spPr>
          <a:xfrm>
            <a:off x="1581150" y="25527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0.0114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29FDA7-4A71-42D3-870D-8BE872E9B011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058100-112F-4766-8EE6-8E6177CD53D2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625EC4-5CC4-489F-BF2C-9050BE8684B0}"/>
              </a:ext>
            </a:extLst>
          </p:cNvPr>
          <p:cNvSpPr>
            <a:spLocks noGrp="1"/>
          </p:cNvSpPr>
          <p:nvPr/>
        </p:nvSpPr>
        <p:spPr>
          <a:xfrm>
            <a:off x="2419350" y="22479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60B742-1681-4232-BB85-0D730C46114B}"/>
              </a:ext>
            </a:extLst>
          </p:cNvPr>
          <p:cNvSpPr>
            <a:spLocks noGrp="1"/>
          </p:cNvSpPr>
          <p:nvPr/>
        </p:nvSpPr>
        <p:spPr>
          <a:xfrm>
            <a:off x="2552700" y="23622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EmbCos</a:t>
            </a:r>
            <a:endParaRPr sz="90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2EB7D0-DF22-4F4F-90D2-6A357FE2D130}"/>
              </a:ext>
            </a:extLst>
          </p:cNvPr>
          <p:cNvSpPr>
            <a:spLocks noGrp="1"/>
          </p:cNvSpPr>
          <p:nvPr/>
        </p:nvSpPr>
        <p:spPr>
          <a:xfrm>
            <a:off x="2552700" y="25527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0.3456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5C083E-473D-4319-BCC7-AD88131FC588}"/>
              </a:ext>
            </a:extLst>
          </p:cNvPr>
          <p:cNvSpPr>
            <a:spLocks noGrp="1"/>
          </p:cNvSpPr>
          <p:nvPr/>
        </p:nvSpPr>
        <p:spPr>
          <a:xfrm>
            <a:off x="3314700" y="25527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0.4049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EA775D-3603-4C6F-95EC-396F6FE046E7}"/>
              </a:ext>
            </a:extLst>
          </p:cNvPr>
          <p:cNvSpPr>
            <a:spLocks noGrp="1"/>
          </p:cNvSpPr>
          <p:nvPr/>
        </p:nvSpPr>
        <p:spPr>
          <a:xfrm>
            <a:off x="2552700" y="28384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955D0B3-FA81-48D5-8B8C-E27B85C98D6B}"/>
              </a:ext>
            </a:extLst>
          </p:cNvPr>
          <p:cNvSpPr>
            <a:spLocks noGrp="1"/>
          </p:cNvSpPr>
          <p:nvPr/>
        </p:nvSpPr>
        <p:spPr>
          <a:xfrm>
            <a:off x="2552700" y="28956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EFF9B9-955E-4709-914F-DAFD94B94B67}"/>
              </a:ext>
            </a:extLst>
          </p:cNvPr>
          <p:cNvSpPr>
            <a:spLocks noGrp="1"/>
          </p:cNvSpPr>
          <p:nvPr/>
        </p:nvSpPr>
        <p:spPr>
          <a:xfrm>
            <a:off x="4152900" y="22479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EBD3FB-0ED9-4BA7-ADEC-72F2181E68B7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LenSim</a:t>
            </a:r>
            <a:endParaRPr sz="90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6270B4A-8B5C-4A2A-BABD-42222CE5CA9F}"/>
              </a:ext>
            </a:extLst>
          </p:cNvPr>
          <p:cNvSpPr>
            <a:spLocks noGrp="1"/>
          </p:cNvSpPr>
          <p:nvPr/>
        </p:nvSpPr>
        <p:spPr>
          <a:xfrm>
            <a:off x="4286250" y="25527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0.2649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A07614-6184-4DF7-8993-9162090FCC88}"/>
              </a:ext>
            </a:extLst>
          </p:cNvPr>
          <p:cNvSpPr>
            <a:spLocks noGrp="1"/>
          </p:cNvSpPr>
          <p:nvPr/>
        </p:nvSpPr>
        <p:spPr>
          <a:xfrm>
            <a:off x="5048250" y="25527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0.4670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F53D3E1-BC93-4324-81B9-64AF59C882C1}"/>
              </a:ext>
            </a:extLst>
          </p:cNvPr>
          <p:cNvSpPr>
            <a:spLocks noGrp="1"/>
          </p:cNvSpPr>
          <p:nvPr/>
        </p:nvSpPr>
        <p:spPr>
          <a:xfrm>
            <a:off x="4286250" y="28384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4C93EDA-FE6F-4A42-A498-E9F9DD260097}"/>
              </a:ext>
            </a:extLst>
          </p:cNvPr>
          <p:cNvSpPr>
            <a:spLocks noGrp="1"/>
          </p:cNvSpPr>
          <p:nvPr/>
        </p:nvSpPr>
        <p:spPr>
          <a:xfrm>
            <a:off x="4286250" y="28956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A885DF-0E0E-4D17-B441-9BF68980AFA4}"/>
              </a:ext>
            </a:extLst>
          </p:cNvPr>
          <p:cNvSpPr>
            <a:spLocks noGrp="1"/>
          </p:cNvSpPr>
          <p:nvPr/>
        </p:nvSpPr>
        <p:spPr>
          <a:xfrm>
            <a:off x="5886450" y="22479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F92BCA8-FD4D-4701-A798-E3C9177CE788}"/>
              </a:ext>
            </a:extLst>
          </p:cNvPr>
          <p:cNvSpPr>
            <a:spLocks noGrp="1"/>
          </p:cNvSpPr>
          <p:nvPr/>
        </p:nvSpPr>
        <p:spPr>
          <a:xfrm>
            <a:off x="6019800" y="23622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PuncSim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E6448F-8E9D-4AA3-844F-967A2E922057}"/>
              </a:ext>
            </a:extLst>
          </p:cNvPr>
          <p:cNvSpPr>
            <a:spLocks noGrp="1"/>
          </p:cNvSpPr>
          <p:nvPr/>
        </p:nvSpPr>
        <p:spPr>
          <a:xfrm>
            <a:off x="6019800" y="25527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0.9190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D8F4C8-F92E-4239-AF50-9A7EAECBD1CA}"/>
              </a:ext>
            </a:extLst>
          </p:cNvPr>
          <p:cNvSpPr>
            <a:spLocks noGrp="1"/>
          </p:cNvSpPr>
          <p:nvPr/>
        </p:nvSpPr>
        <p:spPr>
          <a:xfrm>
            <a:off x="6781800" y="25527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0.9870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2FF5E54-7739-43E8-9A9C-C878DB1A97AC}"/>
              </a:ext>
            </a:extLst>
          </p:cNvPr>
          <p:cNvSpPr>
            <a:spLocks noGrp="1"/>
          </p:cNvSpPr>
          <p:nvPr/>
        </p:nvSpPr>
        <p:spPr>
          <a:xfrm>
            <a:off x="6019800" y="28384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A3FF035-C5A7-4BC6-909E-BA8C08E7BCD1}"/>
              </a:ext>
            </a:extLst>
          </p:cNvPr>
          <p:cNvSpPr>
            <a:spLocks noGrp="1"/>
          </p:cNvSpPr>
          <p:nvPr/>
        </p:nvSpPr>
        <p:spPr>
          <a:xfrm>
            <a:off x="6019800" y="28956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96AB11-DA2D-416F-B464-C583B8C52D7D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064D9FE-9723-4222-B2DD-D32F6B5E91B9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ModalSim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731B52-B3D5-4577-A7D8-A6813AB6A44F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0.8352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F53A74A-DA0C-473D-B63A-ACFA3048277A}"/>
              </a:ext>
            </a:extLst>
          </p:cNvPr>
          <p:cNvSpPr>
            <a:spLocks noGrp="1"/>
          </p:cNvSpPr>
          <p:nvPr/>
        </p:nvSpPr>
        <p:spPr>
          <a:xfrm>
            <a:off x="1581150" y="356235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0.9392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357F9A7-D5AC-44A6-A39D-D1F8BA0107F9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71E3517-6B9D-4433-9475-6DD7D7D26A29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B8D1CD-AFCF-4619-9643-2919D2CD0645}"/>
              </a:ext>
            </a:extLst>
          </p:cNvPr>
          <p:cNvSpPr>
            <a:spLocks noGrp="1"/>
          </p:cNvSpPr>
          <p:nvPr/>
        </p:nvSpPr>
        <p:spPr>
          <a:xfrm>
            <a:off x="2419350" y="325755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A9A04EE-070C-4482-9D94-3EACF29CC9F8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C677A2-6894-4DBB-9FED-8834C56B289C}"/>
              </a:ext>
            </a:extLst>
          </p:cNvPr>
          <p:cNvSpPr>
            <a:spLocks noGrp="1"/>
          </p:cNvSpPr>
          <p:nvPr/>
        </p:nvSpPr>
        <p:spPr>
          <a:xfrm>
            <a:off x="2552700" y="356235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3979</a:t>
            </a:r>
            <a:endParaRPr sz="135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AA87F8-5AFE-42BA-B82B-5AC834A319DB}"/>
              </a:ext>
            </a:extLst>
          </p:cNvPr>
          <p:cNvSpPr>
            <a:spLocks noGrp="1"/>
          </p:cNvSpPr>
          <p:nvPr/>
        </p:nvSpPr>
        <p:spPr>
          <a:xfrm>
            <a:off x="3314700" y="356235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6021</a:t>
            </a:r>
            <a:endParaRPr sz="1350" b="1" i="0" dirty="0">
              <a:solidFill>
                <a:srgbClr val="56F0C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20F9F4-93BE-4F1C-9D7C-4D647D279F3A}"/>
              </a:ext>
            </a:extLst>
          </p:cNvPr>
          <p:cNvSpPr>
            <a:spLocks noGrp="1"/>
          </p:cNvSpPr>
          <p:nvPr/>
        </p:nvSpPr>
        <p:spPr>
          <a:xfrm>
            <a:off x="2552700" y="384810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78AB388-F621-4A06-B21D-1BD0939A2A78}"/>
              </a:ext>
            </a:extLst>
          </p:cNvPr>
          <p:cNvSpPr>
            <a:spLocks noGrp="1"/>
          </p:cNvSpPr>
          <p:nvPr/>
        </p:nvSpPr>
        <p:spPr>
          <a:xfrm>
            <a:off x="2552700" y="390525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B64E95E-7132-4ED6-8FA2-295FA974518B}"/>
              </a:ext>
            </a:extLst>
          </p:cNvPr>
          <p:cNvSpPr>
            <a:spLocks noGrp="1"/>
          </p:cNvSpPr>
          <p:nvPr/>
        </p:nvSpPr>
        <p:spPr>
          <a:xfrm>
            <a:off x="4152900" y="325755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B1571C-0F92-4009-9F97-53B7D3D4058B}"/>
              </a:ext>
            </a:extLst>
          </p:cNvPr>
          <p:cNvSpPr>
            <a:spLocks noGrp="1"/>
          </p:cNvSpPr>
          <p:nvPr/>
        </p:nvSpPr>
        <p:spPr>
          <a:xfrm>
            <a:off x="4286250" y="337185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Semantic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3AACAF0-12FD-4A20-AF8B-FD9D7BCFAE3F}"/>
              </a:ext>
            </a:extLst>
          </p:cNvPr>
          <p:cNvSpPr>
            <a:spLocks noGrp="1"/>
          </p:cNvSpPr>
          <p:nvPr/>
        </p:nvSpPr>
        <p:spPr>
          <a:xfrm>
            <a:off x="4286250" y="356235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4278</a:t>
            </a:r>
            <a:endParaRPr sz="135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C314B1C-BA9B-4C1D-847D-D786E7BBBF65}"/>
              </a:ext>
            </a:extLst>
          </p:cNvPr>
          <p:cNvSpPr>
            <a:spLocks noGrp="1"/>
          </p:cNvSpPr>
          <p:nvPr/>
        </p:nvSpPr>
        <p:spPr>
          <a:xfrm>
            <a:off x="5048250" y="356235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dirty="0">
                <a:solidFill>
                  <a:srgbClr val="56F0C6"/>
                </a:solidFill>
                <a:latin typeface="Trebuchet MS"/>
              </a:rPr>
              <a:t>0.</a:t>
            </a:r>
            <a:r>
              <a:rPr lang="en-US" sz="1350" b="1" dirty="0">
                <a:solidFill>
                  <a:srgbClr val="56F0C6"/>
                </a:solidFill>
                <a:latin typeface="Trebuchet MS"/>
              </a:rPr>
              <a:t>5722</a:t>
            </a:r>
            <a:endParaRPr sz="1350" b="1" dirty="0">
              <a:solidFill>
                <a:srgbClr val="56F0C6"/>
              </a:solidFill>
              <a:latin typeface="Trebuchet M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1635065-24C5-415E-B8BE-DC5086CCB2E3}"/>
              </a:ext>
            </a:extLst>
          </p:cNvPr>
          <p:cNvSpPr>
            <a:spLocks noGrp="1"/>
          </p:cNvSpPr>
          <p:nvPr/>
        </p:nvSpPr>
        <p:spPr>
          <a:xfrm>
            <a:off x="4286250" y="384810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22EDBEA-053D-48BB-A5B0-FF030B7A0555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5CFE4A-15CC-4BFA-81BC-8649C93F7B00}"/>
              </a:ext>
            </a:extLst>
          </p:cNvPr>
          <p:cNvSpPr>
            <a:spLocks noGrp="1"/>
          </p:cNvSpPr>
          <p:nvPr/>
        </p:nvSpPr>
        <p:spPr>
          <a:xfrm>
            <a:off x="5886450" y="325755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558AB6-FCDA-446D-A69C-9A75BA274A9E}"/>
              </a:ext>
            </a:extLst>
          </p:cNvPr>
          <p:cNvSpPr>
            <a:spLocks noGrp="1"/>
          </p:cNvSpPr>
          <p:nvPr/>
        </p:nvSpPr>
        <p:spPr>
          <a:xfrm>
            <a:off x="6019800" y="337185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15E7B48-8BDB-450A-B6F8-FBB600F3B475}"/>
              </a:ext>
            </a:extLst>
          </p:cNvPr>
          <p:cNvSpPr>
            <a:spLocks noGrp="1"/>
          </p:cNvSpPr>
          <p:nvPr/>
        </p:nvSpPr>
        <p:spPr>
          <a:xfrm>
            <a:off x="6019800" y="356235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4307</a:t>
            </a:r>
            <a:endParaRPr sz="135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9761E46-A4AF-4D01-825C-EE3B766B15D6}"/>
              </a:ext>
            </a:extLst>
          </p:cNvPr>
          <p:cNvSpPr>
            <a:spLocks noGrp="1"/>
          </p:cNvSpPr>
          <p:nvPr/>
        </p:nvSpPr>
        <p:spPr>
          <a:xfrm>
            <a:off x="6781800" y="356235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569</a:t>
            </a:r>
            <a:r>
              <a:rPr lang="en-US" sz="1350" b="1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1350" b="1" i="0" dirty="0">
              <a:solidFill>
                <a:srgbClr val="56F0C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09F66C6-404D-49F7-A7C9-66D17ACE1656}"/>
              </a:ext>
            </a:extLst>
          </p:cNvPr>
          <p:cNvSpPr>
            <a:spLocks noGrp="1"/>
          </p:cNvSpPr>
          <p:nvPr/>
        </p:nvSpPr>
        <p:spPr>
          <a:xfrm>
            <a:off x="6019800" y="384810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710810F-E017-4F1A-9190-EDD6FE449A15}"/>
              </a:ext>
            </a:extLst>
          </p:cNvPr>
          <p:cNvSpPr>
            <a:spLocks noGrp="1"/>
          </p:cNvSpPr>
          <p:nvPr/>
        </p:nvSpPr>
        <p:spPr>
          <a:xfrm>
            <a:off x="6019800" y="390525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B6AEF2B-2832-407C-8AE3-B2660C62343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3289AA7-D949-4C48-9255-7D93DF15A44D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WinRate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F47184D-3932-4330-99E1-4EA285AFB5DB}"/>
              </a:ext>
            </a:extLst>
          </p:cNvPr>
          <p:cNvSpPr>
            <a:spLocks noGrp="1"/>
          </p:cNvSpPr>
          <p:nvPr/>
        </p:nvSpPr>
        <p:spPr>
          <a:xfrm>
            <a:off x="819150" y="45720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5224</a:t>
            </a:r>
            <a:endParaRPr sz="135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E7AD8A4-C012-421F-AFE0-4BB50FD8A323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0.</a:t>
            </a:r>
            <a:r>
              <a:rPr lang="en-US" sz="1350" b="1" i="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4776</a:t>
            </a:r>
            <a:endParaRPr sz="1350" b="1" i="0" dirty="0">
              <a:solidFill>
                <a:srgbClr val="FF0000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5840289-B6F5-4489-9A87-B197F29A022A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1E775C6-5F12-4D85-8163-BC1152BA8A5D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0650709-D59F-4AFE-A942-026C4151A5F5}"/>
              </a:ext>
            </a:extLst>
          </p:cNvPr>
          <p:cNvSpPr>
            <a:spLocks noGrp="1"/>
          </p:cNvSpPr>
          <p:nvPr/>
        </p:nvSpPr>
        <p:spPr>
          <a:xfrm>
            <a:off x="2400300" y="42672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F0EF244-1F29-41BD-8148-9F178DEE3934}"/>
              </a:ext>
            </a:extLst>
          </p:cNvPr>
          <p:cNvSpPr>
            <a:spLocks noGrp="1"/>
          </p:cNvSpPr>
          <p:nvPr/>
        </p:nvSpPr>
        <p:spPr>
          <a:xfrm>
            <a:off x="2552700" y="43815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900" dirty="0"/>
              <a:t>KHR</a:t>
            </a:r>
            <a:endParaRPr sz="90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C99B785-43A4-43C0-9194-E76997449574}"/>
              </a:ext>
            </a:extLst>
          </p:cNvPr>
          <p:cNvSpPr>
            <a:spLocks noGrp="1"/>
          </p:cNvSpPr>
          <p:nvPr/>
        </p:nvSpPr>
        <p:spPr>
          <a:xfrm>
            <a:off x="2552700" y="45720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en-US" altLang="zh-CN" sz="1350" b="1" dirty="0">
                <a:solidFill>
                  <a:srgbClr val="69B7FF"/>
                </a:solidFill>
                <a:latin typeface="Trebuchet MS"/>
              </a:rPr>
              <a:t>0.0113</a:t>
            </a:r>
            <a:endParaRPr sz="1350" b="1" dirty="0">
              <a:solidFill>
                <a:srgbClr val="69B7FF"/>
              </a:solidFill>
              <a:latin typeface="Trebuchet MS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30D5C2A-0264-48A5-90FD-33A96705B1EF}"/>
              </a:ext>
            </a:extLst>
          </p:cNvPr>
          <p:cNvSpPr>
            <a:spLocks noGrp="1"/>
          </p:cNvSpPr>
          <p:nvPr/>
        </p:nvSpPr>
        <p:spPr>
          <a:xfrm>
            <a:off x="3314700" y="45720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/>
            <a:r>
              <a:rPr lang="en-US" altLang="zh-CN" sz="1350" b="1" dirty="0">
                <a:solidFill>
                  <a:srgbClr val="56F0C6"/>
                </a:solidFill>
                <a:latin typeface="Trebuchet MS"/>
              </a:rPr>
              <a:t>0.0126</a:t>
            </a:r>
            <a:endParaRPr sz="1350" b="1" dirty="0">
              <a:solidFill>
                <a:srgbClr val="56F0C6"/>
              </a:solidFill>
              <a:latin typeface="Trebuchet M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BFF64B8-D334-429F-8599-72B2AC3E991B}"/>
              </a:ext>
            </a:extLst>
          </p:cNvPr>
          <p:cNvSpPr>
            <a:spLocks noGrp="1"/>
          </p:cNvSpPr>
          <p:nvPr/>
        </p:nvSpPr>
        <p:spPr>
          <a:xfrm>
            <a:off x="2552700" y="48577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C63728F-6E5E-4DEF-B8E9-BBD187FE94BE}"/>
              </a:ext>
            </a:extLst>
          </p:cNvPr>
          <p:cNvSpPr>
            <a:spLocks noGrp="1"/>
          </p:cNvSpPr>
          <p:nvPr/>
        </p:nvSpPr>
        <p:spPr>
          <a:xfrm>
            <a:off x="2552700" y="49149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lang="zh-CN" altLang="en-US" sz="75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</a:t>
            </a:r>
            <a:r>
              <a:rPr sz="75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zh-CN" sz="75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higher</a:t>
            </a:r>
            <a:r>
              <a:rPr sz="75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is better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785356E-0195-415E-AD52-F88E6153F147}"/>
              </a:ext>
            </a:extLst>
          </p:cNvPr>
          <p:cNvSpPr>
            <a:spLocks noGrp="1"/>
          </p:cNvSpPr>
          <p:nvPr/>
        </p:nvSpPr>
        <p:spPr>
          <a:xfrm>
            <a:off x="4152900" y="42672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CF94780-1C19-4382-BA87-344A4703F539}"/>
              </a:ext>
            </a:extLst>
          </p:cNvPr>
          <p:cNvSpPr>
            <a:spLocks noGrp="1"/>
          </p:cNvSpPr>
          <p:nvPr/>
        </p:nvSpPr>
        <p:spPr>
          <a:xfrm>
            <a:off x="4286250" y="43815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AdvDrift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2FC160E-4472-4821-AC1D-CAD67A8E9A70}"/>
              </a:ext>
            </a:extLst>
          </p:cNvPr>
          <p:cNvSpPr>
            <a:spLocks noGrp="1"/>
          </p:cNvSpPr>
          <p:nvPr/>
        </p:nvSpPr>
        <p:spPr>
          <a:xfrm>
            <a:off x="4286250" y="45720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0.5882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359B836-0738-429D-9B19-2099B7E9789C}"/>
              </a:ext>
            </a:extLst>
          </p:cNvPr>
          <p:cNvSpPr>
            <a:spLocks noGrp="1"/>
          </p:cNvSpPr>
          <p:nvPr/>
        </p:nvSpPr>
        <p:spPr>
          <a:xfrm>
            <a:off x="5048250" y="45720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0.5757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5772DBC-5709-494C-A820-980A4D4EC7EF}"/>
              </a:ext>
            </a:extLst>
          </p:cNvPr>
          <p:cNvSpPr>
            <a:spLocks noGrp="1"/>
          </p:cNvSpPr>
          <p:nvPr/>
        </p:nvSpPr>
        <p:spPr>
          <a:xfrm>
            <a:off x="4286250" y="48577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5288728-0F68-4B99-B456-DBABC88B374A}"/>
              </a:ext>
            </a:extLst>
          </p:cNvPr>
          <p:cNvSpPr>
            <a:spLocks noGrp="1"/>
          </p:cNvSpPr>
          <p:nvPr/>
        </p:nvSpPr>
        <p:spPr>
          <a:xfrm>
            <a:off x="4286250" y="49149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↓ lower is better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A9B873-A09C-4327-8E24-E6F00A8E6E32}"/>
              </a:ext>
            </a:extLst>
          </p:cNvPr>
          <p:cNvSpPr>
            <a:spLocks noGrp="1"/>
          </p:cNvSpPr>
          <p:nvPr/>
        </p:nvSpPr>
        <p:spPr>
          <a:xfrm>
            <a:off x="5886450" y="4267200"/>
            <a:ext cx="1600200" cy="8763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23EBAF9-E58A-431C-9A70-AF520CDA692C}"/>
              </a:ext>
            </a:extLst>
          </p:cNvPr>
          <p:cNvSpPr>
            <a:spLocks noGrp="1"/>
          </p:cNvSpPr>
          <p:nvPr/>
        </p:nvSpPr>
        <p:spPr>
          <a:xfrm>
            <a:off x="6019800" y="4381500"/>
            <a:ext cx="1295400" cy="152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StyleCons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6EF5DDF-F60C-4186-9D76-7BDED406F5B5}"/>
              </a:ext>
            </a:extLst>
          </p:cNvPr>
          <p:cNvSpPr>
            <a:spLocks noGrp="1"/>
          </p:cNvSpPr>
          <p:nvPr/>
        </p:nvSpPr>
        <p:spPr>
          <a:xfrm>
            <a:off x="6019800" y="4572000"/>
            <a:ext cx="6477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0.7916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AD51079-F71A-431A-BFD1-D92E63178103}"/>
              </a:ext>
            </a:extLst>
          </p:cNvPr>
          <p:cNvSpPr>
            <a:spLocks noGrp="1"/>
          </p:cNvSpPr>
          <p:nvPr/>
        </p:nvSpPr>
        <p:spPr>
          <a:xfrm>
            <a:off x="6781800" y="4572000"/>
            <a:ext cx="5715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r">
              <a:def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0.8397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3CA57E0-F72A-49A4-BB5D-48F44FFDDB11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13335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3558A03-4D01-40C3-8152-0F97E610EF17}"/>
              </a:ext>
            </a:extLst>
          </p:cNvPr>
          <p:cNvSpPr>
            <a:spLocks noGrp="1"/>
          </p:cNvSpPr>
          <p:nvPr/>
        </p:nvSpPr>
        <p:spPr>
          <a:xfrm>
            <a:off x="6019800" y="4914900"/>
            <a:ext cx="1333500" cy="1333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75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↑ higher is better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F88287A-BEF2-4A0F-AE53-5B52510E0005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971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75" b="0" i="0" dirty="0" err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读法：蓝色是</a:t>
            </a:r>
            <a:r>
              <a:rPr sz="975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75" b="0" i="0" dirty="0" err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Base，绿色或红色是</a:t>
            </a:r>
            <a:r>
              <a:rPr sz="975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75" b="0" i="0" dirty="0" err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75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(history</a:t>
            </a:r>
            <a:r>
              <a:rPr lang="zh-CN" altLang="en-US" sz="975" b="0" i="0" dirty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）</a:t>
            </a:r>
            <a:endParaRPr sz="975" b="0" i="0" dirty="0">
              <a:solidFill>
                <a:srgbClr val="7F90A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173D146-3AEF-4566-7DC2-A526448ABD44}"/>
              </a:ext>
            </a:extLst>
          </p:cNvPr>
          <p:cNvSpPr txBox="1"/>
          <p:nvPr/>
        </p:nvSpPr>
        <p:spPr>
          <a:xfrm>
            <a:off x="605067" y="4171950"/>
            <a:ext cx="1755622" cy="10825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208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E386A-F85A-D27A-C76A-319C1066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5AD4DE-75C5-A82A-B742-36203536299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7805E4-0ABD-726F-0666-8B943D3A612A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1ABE97-3861-FB31-917B-E2D12C7FF50D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3F89BB-E11D-9711-A832-CD03DF86C4C2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9989DC-B7E5-D7A6-9102-FF329E2918AB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6D704B-CAE5-E882-534C-135AC4E8D150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5E140D-C241-B720-5940-CE7E02C97CA1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BB528F-77C4-6977-0C19-DB15F30ABD2A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58403C-4DF1-01CB-AD0E-580B19243157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E71F62-B70C-8BF5-EC99-7633842B2C14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FF4D5A-7363-B871-5264-FC5DADD9F634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492FDC-E0A8-F270-3700-5F0F2226D798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8FD93D-36E9-0871-8349-F2506B2C2B23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5ED1A0-C863-3554-5FA3-BEAC43F6CD7A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平均：效果整体不错，除了</a:t>
            </a:r>
            <a:r>
              <a:rPr lang="en-US" altLang="zh-CN" sz="2400" b="1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winrate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指标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697D67-ABB1-652B-0DCA-FDE334629AFE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81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B71D80-DF44-9891-6BCF-167984A47660}"/>
              </a:ext>
            </a:extLst>
          </p:cNvPr>
          <p:cNvSpPr>
            <a:spLocks noGrp="1"/>
          </p:cNvSpPr>
          <p:nvPr/>
        </p:nvSpPr>
        <p:spPr>
          <a:xfrm>
            <a:off x="3308909" y="2409825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E37297-050F-6EAB-4A06-EDBC884EDEF3}"/>
              </a:ext>
            </a:extLst>
          </p:cNvPr>
          <p:cNvSpPr>
            <a:spLocks noGrp="1"/>
          </p:cNvSpPr>
          <p:nvPr/>
        </p:nvSpPr>
        <p:spPr>
          <a:xfrm>
            <a:off x="6370977" y="2398394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3BF15B-419A-580B-9EC1-BC63DDA64799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BLEU4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B3BBDD-91CA-4B98-D277-0CC4475BD261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2A80D0-79DF-36D8-001F-C8A710762B57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9AA198-5A03-D9C1-406C-5C1DF15168A8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BB0A62-5C2B-B2DC-A5F0-72ABC022062E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F2031A-D439-E437-C86A-059328ECB8AD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0.0093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E43FA1-BD11-F5E9-76E6-D5FEC8541B9D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0.0114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690208-A0FA-DD74-1B4B-9A09FF02A2DA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KHR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823941-194E-45EC-F0F4-8405CFF97424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229A70F-7FB7-2A3C-EFF3-680D31987C62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491856-3296-1D74-7D40-6CB3A486E192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07B429-94E3-F6A9-E64E-7BF166AACED6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15EA90-4428-868B-9593-8130B5F2239D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0.0113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895798-56D8-7D1B-0533-AE9F0C4995A6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0.0126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AFBAE3-A201-00DE-A5A4-95B4B3369D01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PuncSim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571F95-B7F9-44A9-DB4C-F058028E5511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C2A482D-A35B-DF5A-3EA1-D30D254526B4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2838006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2F359D8-0505-F0A7-D879-FA9788BAE495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29EF281-BEDA-1C3F-A4DC-DFF1F0FD2D00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178A15C-95A7-7005-D0E7-9AD5BA611884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0.9190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B39930-4621-D840-74A1-2240CC93E5F2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0.9870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E0A353-6F74-190B-B9BE-394C6E89803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ModalSim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457DEEA-22C7-168F-DEA4-0DDEC6C1102D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0FBE525-7AAC-95D0-6564-E77970806E93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2579219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2B68A6E-4704-7121-A39A-E583859FD951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862919-E9E7-9BFF-D292-8852B9F0F682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2900386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FD40A9A-0A68-5885-624E-2E2BBBF81A05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0.8352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8F4B535-A3F7-BD2F-4740-4984889D2438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0.9392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46838C-613D-C981-86CA-76115F91D51C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26B93E3-21DD-733F-CA66-305EE1528438}"/>
              </a:ext>
            </a:extLst>
          </p:cNvPr>
          <p:cNvSpPr>
            <a:spLocks noGrp="1"/>
          </p:cNvSpPr>
          <p:nvPr/>
        </p:nvSpPr>
        <p:spPr>
          <a:xfrm>
            <a:off x="2019299" y="4438650"/>
            <a:ext cx="929904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749F560-7BC9-59B3-8509-7CE853FFCE64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D100A81-9030-CB7D-D19B-6F1CA188D2DA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137633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0CC8604-12CE-DA9F-BC7C-3783403A3962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3456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5183E69-837F-325C-EC4B-88E934C532A2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4049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BCD8759-CA5F-5591-297A-8D2E0A97A1F0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AdvDrift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4DA8CE-104A-001D-27F8-3515812197F4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C79B68F-85CF-1BCA-345E-B5D4813C4CAF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1816447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55C7CA4-6810-4ED4-BDBF-49B6193919AF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CC9158E-D170-0959-1C34-A5FF0A482AD6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1777845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FDB183-34E8-C87B-9A4B-8602682819E0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0.5882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1DC1AAD-E966-BF84-FF3D-2F1AAF0A9678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0.5757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602EC99-3FC1-84F7-C89E-173234290FC6}"/>
              </a:ext>
            </a:extLst>
          </p:cNvPr>
          <p:cNvSpPr>
            <a:spLocks noGrp="1"/>
          </p:cNvSpPr>
          <p:nvPr/>
        </p:nvSpPr>
        <p:spPr>
          <a:xfrm>
            <a:off x="914400" y="4391025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en-US" altLang="zh-CN" sz="900" b="1" dirty="0" err="1">
                <a:solidFill>
                  <a:srgbClr val="14213D"/>
                </a:solidFill>
                <a:latin typeface="Consolas"/>
              </a:rPr>
              <a:t>EmbCos</a:t>
            </a:r>
            <a:endParaRPr lang="en-US" altLang="zh-CN"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45051F0-F12D-4AAF-1899-2DDBCE76C721}"/>
              </a:ext>
            </a:extLst>
          </p:cNvPr>
          <p:cNvSpPr/>
          <p:nvPr/>
        </p:nvSpPr>
        <p:spPr>
          <a:xfrm>
            <a:off x="791823" y="2617468"/>
            <a:ext cx="7674654" cy="1630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F76C76-6ECD-EFBE-329D-815A96F39000}"/>
              </a:ext>
            </a:extLst>
          </p:cNvPr>
          <p:cNvSpPr/>
          <p:nvPr/>
        </p:nvSpPr>
        <p:spPr>
          <a:xfrm>
            <a:off x="862243" y="4562475"/>
            <a:ext cx="7674654" cy="12668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827647E-DA6D-915F-0D48-20AF122EA10D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dirty="0"/>
              <a:t>除 </a:t>
            </a:r>
            <a:r>
              <a:rPr lang="en-US" altLang="zh-CN" dirty="0" err="1"/>
              <a:t>AdvDrift</a:t>
            </a:r>
            <a:r>
              <a:rPr lang="en-US" altLang="zh-CN" dirty="0"/>
              <a:t> </a:t>
            </a:r>
            <a:r>
              <a:rPr lang="zh-CN" altLang="en-US" dirty="0"/>
              <a:t>为越低越好外，其余都是越高越好。使用符号一般就是句号，语气词常用的也就是那几个。</a:t>
            </a:r>
            <a:endParaRPr lang="en-US" altLang="zh-CN" dirty="0"/>
          </a:p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dirty="0"/>
              <a:t>请用正式的语气回答，请不要像平时那样说话，改用完全不同的风格，请用很克制、很官方的方式回复。</a:t>
            </a:r>
            <a:r>
              <a:rPr lang="en-US" altLang="zh-CN" dirty="0" err="1"/>
              <a:t>styleconsistency</a:t>
            </a:r>
            <a:r>
              <a:rPr lang="zh-CN" altLang="en-US" dirty="0"/>
              <a:t>不用比原模型好，毕竟原模型也很稳定，只要我的模型也很稳定就可以了。</a:t>
            </a:r>
          </a:p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2B565E7-420C-262D-8F11-763E817E685D}"/>
              </a:ext>
            </a:extLst>
          </p:cNvPr>
          <p:cNvSpPr>
            <a:spLocks noGrp="1"/>
          </p:cNvSpPr>
          <p:nvPr/>
        </p:nvSpPr>
        <p:spPr>
          <a:xfrm>
            <a:off x="906386" y="5335907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StyleCons</a:t>
            </a:r>
            <a:endParaRPr sz="900" b="1" i="0" dirty="0">
              <a:solidFill>
                <a:srgbClr val="14213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E227A3F-3750-35EE-A3E7-F0E0C40AFE7C}"/>
              </a:ext>
            </a:extLst>
          </p:cNvPr>
          <p:cNvSpPr>
            <a:spLocks noGrp="1"/>
          </p:cNvSpPr>
          <p:nvPr/>
        </p:nvSpPr>
        <p:spPr>
          <a:xfrm>
            <a:off x="2019299" y="5431157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393443A-F5E0-7925-51D0-9BD5A1BF3AEC}"/>
              </a:ext>
            </a:extLst>
          </p:cNvPr>
          <p:cNvSpPr>
            <a:spLocks noGrp="1"/>
          </p:cNvSpPr>
          <p:nvPr/>
        </p:nvSpPr>
        <p:spPr>
          <a:xfrm>
            <a:off x="2011286" y="5431157"/>
            <a:ext cx="2873403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5A1DA60-C992-9C4A-ECA4-96FC3935697E}"/>
              </a:ext>
            </a:extLst>
          </p:cNvPr>
          <p:cNvSpPr>
            <a:spLocks noGrp="1"/>
          </p:cNvSpPr>
          <p:nvPr/>
        </p:nvSpPr>
        <p:spPr>
          <a:xfrm>
            <a:off x="5249786" y="5431157"/>
            <a:ext cx="30480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7BC689F-538B-559C-00D8-6A8FBAE59BD4}"/>
              </a:ext>
            </a:extLst>
          </p:cNvPr>
          <p:cNvSpPr>
            <a:spLocks noGrp="1"/>
          </p:cNvSpPr>
          <p:nvPr/>
        </p:nvSpPr>
        <p:spPr>
          <a:xfrm>
            <a:off x="2011286" y="5240657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0.7916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3FC842E-B030-A917-CD29-CC1CEDA31FAD}"/>
              </a:ext>
            </a:extLst>
          </p:cNvPr>
          <p:cNvSpPr>
            <a:spLocks noGrp="1"/>
          </p:cNvSpPr>
          <p:nvPr/>
        </p:nvSpPr>
        <p:spPr>
          <a:xfrm>
            <a:off x="5249786" y="5240657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0.8397</a:t>
            </a:r>
          </a:p>
        </p:txBody>
      </p:sp>
    </p:spTree>
    <p:extLst>
      <p:ext uri="{BB962C8B-B14F-4D97-AF65-F5344CB8AC3E}">
        <p14:creationId xmlns:p14="http://schemas.microsoft.com/office/powerpoint/2010/main" val="663683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3FDCD55D-1F7E-4523-9F84-F1CBB4FFB017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347920-2C03-46FA-95A7-F50DB65FC163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36DE7E-F155-4680-820F-E1060A765B93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CB83A5-9B20-4C79-AA1D-0290CC35060E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1BBA1F-EC05-4EC8-A32D-EF1AFAC3CF85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9D9E4-7145-484B-8854-947EBE4553C9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3A39E4-1CC3-4325-BED0-F9E95676329A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9FAEF7-599B-4790-8822-8390AD2938CD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7082FC-5BED-403D-848B-98A6191267B0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1C85DB-AC1B-4E12-8FBE-691A3E3AE6D8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224A99-9C79-43D4-BC5B-1AF910DDB67B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2D2347-6588-4B40-B723-7A7684D5B582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82C7D2-0015-4581-9378-79310990AD3F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667A0F-2952-44CF-9F99-FBB853E562E7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595120-2043-4A4C-A06E-AEF4CF0B4656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平均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：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效果整体不错，除了</a:t>
            </a:r>
            <a:r>
              <a:rPr lang="en-US" altLang="zh-CN" sz="2400" b="1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winrate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指标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EDF01F-1047-44A7-BA4B-72900724D0C5}"/>
              </a:ext>
            </a:extLst>
          </p:cNvPr>
          <p:cNvSpPr>
            <a:spLocks noGrp="1"/>
          </p:cNvSpPr>
          <p:nvPr/>
        </p:nvSpPr>
        <p:spPr>
          <a:xfrm>
            <a:off x="685800" y="2114549"/>
            <a:ext cx="10820400" cy="299085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FF96EC-E2B6-48FC-8765-8CE5839CF14A}"/>
              </a:ext>
            </a:extLst>
          </p:cNvPr>
          <p:cNvSpPr>
            <a:spLocks noGrp="1"/>
          </p:cNvSpPr>
          <p:nvPr/>
        </p:nvSpPr>
        <p:spPr>
          <a:xfrm>
            <a:off x="3295650" y="2449633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535170-CD63-4CAF-AC8F-57E1A44604E5}"/>
              </a:ext>
            </a:extLst>
          </p:cNvPr>
          <p:cNvSpPr>
            <a:spLocks noGrp="1"/>
          </p:cNvSpPr>
          <p:nvPr/>
        </p:nvSpPr>
        <p:spPr>
          <a:xfrm>
            <a:off x="6229744" y="2442473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6EAC47-AA54-46E8-B2F9-68D267DB400B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CFA744-3045-4BBA-A0F4-D1FA59B02DD1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0DB522-D0D1-4056-BDA4-F41B8F91D5B3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1037416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E2D131-C9A3-4304-A32D-82BEE2ADE79F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A5E73F-7DEC-4F89-B788-B69947BCDF47}"/>
              </a:ext>
            </a:extLst>
          </p:cNvPr>
          <p:cNvSpPr>
            <a:spLocks noGrp="1"/>
          </p:cNvSpPr>
          <p:nvPr/>
        </p:nvSpPr>
        <p:spPr>
          <a:xfrm>
            <a:off x="5257800" y="2857500"/>
            <a:ext cx="1943888" cy="571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05DF9CB-B324-40CE-B9C3-9856A1EB4D65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3979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F662DC-C22D-4AAF-AA76-62E2E878CF0E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6021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BFD27B-7235-47F6-9476-C9CB94E91576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dirty="0">
                <a:solidFill>
                  <a:srgbClr val="14213D"/>
                </a:solidFill>
                <a:latin typeface="Consolas"/>
              </a:rPr>
              <a:t>Semantic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C7CBE8-0C12-4DAB-B2CF-16F6D68E0F16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571434-2E2B-4F41-97CA-74F76BA8772C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1537401" cy="76199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1FF2C4-6AEA-4384-961B-2AC3E12924E0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FF7B20-9213-4B54-A212-DBB49A4CA55D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76702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187E4C-5114-4248-9B6A-E2980715E3E1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4278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D1878A6-06EB-458C-8ADF-030590239CC6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5722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CE29A4-6D59-4BBC-A31F-4386B916A81D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8316C8-6CE7-45EF-B8FA-B6015C7CBD89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1EF86F-CC5D-43D5-A576-A8328CCC43C7}"/>
              </a:ext>
            </a:extLst>
          </p:cNvPr>
          <p:cNvSpPr>
            <a:spLocks noGrp="1"/>
          </p:cNvSpPr>
          <p:nvPr/>
        </p:nvSpPr>
        <p:spPr>
          <a:xfrm>
            <a:off x="2019300" y="3638549"/>
            <a:ext cx="1581544" cy="95249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7A026A-1514-46AF-8CC3-65CC47EBE0A5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445509-BBBF-4033-B72B-BDB71EBAEDC2}"/>
              </a:ext>
            </a:extLst>
          </p:cNvPr>
          <p:cNvSpPr>
            <a:spLocks noGrp="1"/>
          </p:cNvSpPr>
          <p:nvPr/>
        </p:nvSpPr>
        <p:spPr>
          <a:xfrm>
            <a:off x="5257800" y="3619500"/>
            <a:ext cx="1704252" cy="952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276D33-7BAB-42F6-BE32-A1C4247BEAF2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4307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06EDED3-9521-4E8F-B570-D20D5C4C992C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5693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ECBBB86-76C9-4950-8E02-BB96A9581BB3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 err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WinRate</a:t>
            </a:r>
            <a:endParaRPr sz="900" b="1" i="0" dirty="0">
              <a:solidFill>
                <a:srgbClr val="FF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6F06C24-8970-48D6-A117-AE26068AB406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B482790-553B-472F-8421-8B654568BE73}"/>
              </a:ext>
            </a:extLst>
          </p:cNvPr>
          <p:cNvSpPr>
            <a:spLocks noGrp="1"/>
          </p:cNvSpPr>
          <p:nvPr/>
        </p:nvSpPr>
        <p:spPr>
          <a:xfrm>
            <a:off x="2019299" y="4038600"/>
            <a:ext cx="1724483" cy="952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122C465-ED52-497A-BCBA-BF416D56A9D8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7AD57-7417-4CCE-A5B7-F80BF0F1C8A2}"/>
              </a:ext>
            </a:extLst>
          </p:cNvPr>
          <p:cNvSpPr>
            <a:spLocks noGrp="1"/>
          </p:cNvSpPr>
          <p:nvPr/>
        </p:nvSpPr>
        <p:spPr>
          <a:xfrm>
            <a:off x="5257799" y="4038600"/>
            <a:ext cx="1533985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7706E-0FBA-4C49-8F70-B4876FD8CE62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5224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E042349-CA16-4D29-AFFF-77E7C8321496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4776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137D55C-C62E-4F9E-9128-51A3911B1D8D}"/>
              </a:ext>
            </a:extLst>
          </p:cNvPr>
          <p:cNvSpPr>
            <a:spLocks noGrp="1"/>
          </p:cNvSpPr>
          <p:nvPr/>
        </p:nvSpPr>
        <p:spPr>
          <a:xfrm>
            <a:off x="914400" y="4439832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en-US" altLang="zh-CN" sz="900" b="1" dirty="0" err="1">
                <a:solidFill>
                  <a:srgbClr val="14213D"/>
                </a:solidFill>
                <a:latin typeface="Consolas"/>
              </a:rPr>
              <a:t>LenSim</a:t>
            </a:r>
            <a:endParaRPr lang="en-US" altLang="zh-CN"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2CFAF9-73F6-628A-267C-529DC41F3376}"/>
              </a:ext>
            </a:extLst>
          </p:cNvPr>
          <p:cNvSpPr>
            <a:spLocks noGrp="1"/>
          </p:cNvSpPr>
          <p:nvPr/>
        </p:nvSpPr>
        <p:spPr>
          <a:xfrm>
            <a:off x="2022213" y="4524375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05A4626-6B7B-F219-BF31-4E5A5F8596A7}"/>
              </a:ext>
            </a:extLst>
          </p:cNvPr>
          <p:cNvSpPr>
            <a:spLocks noGrp="1"/>
          </p:cNvSpPr>
          <p:nvPr/>
        </p:nvSpPr>
        <p:spPr>
          <a:xfrm>
            <a:off x="2022212" y="4524375"/>
            <a:ext cx="759087" cy="66675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2711CE5-CBA1-F700-6B76-75258EBE261E}"/>
              </a:ext>
            </a:extLst>
          </p:cNvPr>
          <p:cNvSpPr>
            <a:spLocks noGrp="1"/>
          </p:cNvSpPr>
          <p:nvPr/>
        </p:nvSpPr>
        <p:spPr>
          <a:xfrm>
            <a:off x="5260713" y="4524375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ADD8BC8-C682-AFD8-7739-A4A616BD3B2D}"/>
              </a:ext>
            </a:extLst>
          </p:cNvPr>
          <p:cNvSpPr>
            <a:spLocks noGrp="1"/>
          </p:cNvSpPr>
          <p:nvPr/>
        </p:nvSpPr>
        <p:spPr>
          <a:xfrm>
            <a:off x="5260713" y="4524375"/>
            <a:ext cx="1430173" cy="85725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310EC8A-90AA-5E15-FD45-825E50F6B5A0}"/>
              </a:ext>
            </a:extLst>
          </p:cNvPr>
          <p:cNvSpPr>
            <a:spLocks noGrp="1"/>
          </p:cNvSpPr>
          <p:nvPr/>
        </p:nvSpPr>
        <p:spPr>
          <a:xfrm>
            <a:off x="2022213" y="4333875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2649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DC3C17E-F266-9305-A49F-EAD62C7CFC52}"/>
              </a:ext>
            </a:extLst>
          </p:cNvPr>
          <p:cNvSpPr>
            <a:spLocks noGrp="1"/>
          </p:cNvSpPr>
          <p:nvPr/>
        </p:nvSpPr>
        <p:spPr>
          <a:xfrm>
            <a:off x="5260713" y="4333875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4670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38942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127C8BB-F344-4F04-A9D4-7B5322820C2A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C95055-CCF8-45AD-BA97-E7D203FD063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C0BC59-26BB-4594-AB22-6FB39F1D35FA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456E00-DDCB-4157-8831-8173BA5950CC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070935-A7EB-471E-8F1D-58FF40E33218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A47A1C-5D76-4558-A968-18E2D45D6CF3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1751BA-21A1-4EF7-ADE6-6B0B0A3BD012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7DFF71-93CC-4328-9541-97149EBB7AF8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7991B0-E28F-4C17-B492-C12FF3838766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2597C5-25EC-474A-B5E5-5EAEF9E6E783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114771-D14E-4A92-8541-4C7E6AC4EDA8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6DDB19-D6BA-4172-8C39-436BCB037A32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3B4011-B5CD-419D-A2AE-2B17E31AE4F1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988AD5-75D4-481A-9801-8A9787524426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E786FA-D0C5-4095-837C-599D903E56A9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三位人物的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微调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收益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（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并不均匀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）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AA691A-6D36-4ACA-B2DF-BEA51543FCF2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3333750" cy="304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297151-F051-4D44-A726-06543BB6836D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2095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10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100" b="1" dirty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某</a:t>
            </a:r>
            <a:r>
              <a:rPr sz="2100" b="1" i="0" dirty="0" err="1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老师</a:t>
            </a:r>
            <a:endParaRPr sz="210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D1A259-51A9-451F-BE4B-034509BB77C9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28575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altLang="zh-CN"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rain</a:t>
            </a:r>
            <a:r>
              <a:rPr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 samples: </a:t>
            </a:r>
            <a:r>
              <a:rPr lang="en-US"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942</a:t>
            </a:r>
            <a:endParaRPr sz="105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F1DDA6-8CEE-41FF-89D4-45968583AB26}"/>
              </a:ext>
            </a:extLst>
          </p:cNvPr>
          <p:cNvSpPr>
            <a:spLocks noGrp="1"/>
          </p:cNvSpPr>
          <p:nvPr/>
        </p:nvSpPr>
        <p:spPr>
          <a:xfrm>
            <a:off x="895350" y="3543300"/>
            <a:ext cx="2762250" cy="4000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33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</a:t>
            </a:r>
            <a:r>
              <a:rPr lang="en-US"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</a:t>
            </a:r>
            <a:r>
              <a:rPr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lang="en-US" sz="33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12</a:t>
            </a:r>
            <a:endParaRPr sz="33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6977B3-1C4A-4FE1-80D9-68A9DD93A952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26670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00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LoRA 胜出指标数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2C3967-4F64-4F27-9611-B5DCB31D41CD}"/>
              </a:ext>
            </a:extLst>
          </p:cNvPr>
          <p:cNvSpPr>
            <a:spLocks noGrp="1"/>
          </p:cNvSpPr>
          <p:nvPr/>
        </p:nvSpPr>
        <p:spPr>
          <a:xfrm>
            <a:off x="895350" y="4400550"/>
            <a:ext cx="276225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C66740-63C4-496D-A31D-443A5C7F8F1C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2762250" cy="571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风格指标提升稳定，但语义贴合与漂移没有同步变优</a:t>
            </a:r>
            <a:r>
              <a:rPr sz="13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ED5578-D110-48AB-9F29-ABA36C265069}"/>
              </a:ext>
            </a:extLst>
          </p:cNvPr>
          <p:cNvSpPr>
            <a:spLocks noGrp="1"/>
          </p:cNvSpPr>
          <p:nvPr/>
        </p:nvSpPr>
        <p:spPr>
          <a:xfrm>
            <a:off x="4381500" y="2438400"/>
            <a:ext cx="3333750" cy="304800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01B844-A2EE-40DE-B0EC-A2953AE1A235}"/>
              </a:ext>
            </a:extLst>
          </p:cNvPr>
          <p:cNvSpPr>
            <a:spLocks noGrp="1"/>
          </p:cNvSpPr>
          <p:nvPr/>
        </p:nvSpPr>
        <p:spPr>
          <a:xfrm>
            <a:off x="4610100" y="2686050"/>
            <a:ext cx="2095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10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100" b="1" dirty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某同学</a:t>
            </a:r>
            <a:endParaRPr sz="2100" b="1" i="0" dirty="0">
              <a:solidFill>
                <a:srgbClr val="56F0C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B709C7-DEC1-4102-910B-DE9D26878BC8}"/>
              </a:ext>
            </a:extLst>
          </p:cNvPr>
          <p:cNvSpPr>
            <a:spLocks noGrp="1"/>
          </p:cNvSpPr>
          <p:nvPr/>
        </p:nvSpPr>
        <p:spPr>
          <a:xfrm>
            <a:off x="4610100" y="3086100"/>
            <a:ext cx="28575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0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</a:t>
            </a:r>
            <a:r>
              <a:rPr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 samples: </a:t>
            </a:r>
            <a:r>
              <a:rPr lang="en-US"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2613</a:t>
            </a:r>
            <a:endParaRPr sz="105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D04CD3E-3C87-4C9F-8E1D-0ABD807E1750}"/>
              </a:ext>
            </a:extLst>
          </p:cNvPr>
          <p:cNvSpPr>
            <a:spLocks noGrp="1"/>
          </p:cNvSpPr>
          <p:nvPr/>
        </p:nvSpPr>
        <p:spPr>
          <a:xfrm>
            <a:off x="4610100" y="3543300"/>
            <a:ext cx="2762250" cy="4000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33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</a:t>
            </a:r>
            <a:r>
              <a:rPr lang="en-US"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</a:t>
            </a:r>
            <a:r>
              <a:rPr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1</a:t>
            </a:r>
            <a:r>
              <a:rPr lang="en-US"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33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D23495-977D-446E-9F9F-1D7D59FC3B2B}"/>
              </a:ext>
            </a:extLst>
          </p:cNvPr>
          <p:cNvSpPr>
            <a:spLocks noGrp="1"/>
          </p:cNvSpPr>
          <p:nvPr/>
        </p:nvSpPr>
        <p:spPr>
          <a:xfrm>
            <a:off x="4610100" y="4019550"/>
            <a:ext cx="26670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00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LoRA 胜出指标数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50D198-ABF2-4324-984B-1C7B9D05DAE4}"/>
              </a:ext>
            </a:extLst>
          </p:cNvPr>
          <p:cNvSpPr>
            <a:spLocks noGrp="1"/>
          </p:cNvSpPr>
          <p:nvPr/>
        </p:nvSpPr>
        <p:spPr>
          <a:xfrm>
            <a:off x="4610100" y="4400550"/>
            <a:ext cx="276225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A4F252-1D67-43AE-B958-0DF61AED56DE}"/>
              </a:ext>
            </a:extLst>
          </p:cNvPr>
          <p:cNvSpPr>
            <a:spLocks noGrp="1"/>
          </p:cNvSpPr>
          <p:nvPr/>
        </p:nvSpPr>
        <p:spPr>
          <a:xfrm>
            <a:off x="4610100" y="4629150"/>
            <a:ext cx="2762250" cy="571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提升最明显，说明风格信号更集中、可学习性更强</a:t>
            </a:r>
            <a:r>
              <a:rPr sz="13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86CC5A6-9C3E-4346-B22E-A1FCD1FFD42E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3333750" cy="304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95CB04-461E-4051-9D96-AB64C5B70A41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2095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10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2100" b="1" dirty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某亲人</a:t>
            </a:r>
            <a:endParaRPr sz="2100" b="1" i="0" dirty="0">
              <a:solidFill>
                <a:srgbClr val="FF6B57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5F77C5-04E1-4229-8665-25CD71E40D84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28575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05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train</a:t>
            </a:r>
            <a:r>
              <a:rPr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 samples: </a:t>
            </a:r>
            <a:r>
              <a:rPr lang="en-US" sz="105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2070</a:t>
            </a:r>
            <a:endParaRPr sz="1050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F093DC-499E-46D4-95EC-27D7E699EB65}"/>
              </a:ext>
            </a:extLst>
          </p:cNvPr>
          <p:cNvSpPr>
            <a:spLocks noGrp="1"/>
          </p:cNvSpPr>
          <p:nvPr/>
        </p:nvSpPr>
        <p:spPr>
          <a:xfrm>
            <a:off x="8324850" y="3543300"/>
            <a:ext cx="2762250" cy="4000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33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8</a:t>
            </a:r>
            <a:r>
              <a:rPr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/ </a:t>
            </a:r>
            <a:r>
              <a:rPr lang="en-US" sz="33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12</a:t>
            </a:r>
            <a:endParaRPr sz="33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DF0732-4CC8-46F7-84BB-915683EA0DD3}"/>
              </a:ext>
            </a:extLst>
          </p:cNvPr>
          <p:cNvSpPr>
            <a:spLocks noGrp="1"/>
          </p:cNvSpPr>
          <p:nvPr/>
        </p:nvSpPr>
        <p:spPr>
          <a:xfrm>
            <a:off x="8324850" y="4019550"/>
            <a:ext cx="2667000" cy="190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00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LoRA</a:t>
            </a:r>
            <a:r>
              <a:rPr sz="1200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200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胜出指标数</a:t>
            </a:r>
            <a:endParaRPr sz="1200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81B6F5E-DDB8-49EB-8F6C-8AD593537D10}"/>
              </a:ext>
            </a:extLst>
          </p:cNvPr>
          <p:cNvSpPr>
            <a:spLocks noGrp="1"/>
          </p:cNvSpPr>
          <p:nvPr/>
        </p:nvSpPr>
        <p:spPr>
          <a:xfrm>
            <a:off x="8324850" y="4400550"/>
            <a:ext cx="276225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8D5A1E7-964F-444E-85EC-4F0DA7AF87F9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2762250" cy="5715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35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有提升，但幅度更有限</a:t>
            </a:r>
            <a:r>
              <a:rPr sz="13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，</a:t>
            </a:r>
            <a:r>
              <a:rPr lang="zh-CN" altLang="en-US" sz="13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可能是因为</a:t>
            </a:r>
            <a:r>
              <a:rPr lang="zh-CN" altLang="en-US" sz="1350" b="0" i="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数据问题</a:t>
            </a:r>
            <a:r>
              <a:rPr sz="135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60309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A4DAF-1439-FB59-9177-3B754CAE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473758E-D0D1-1773-0BCE-A306B3333AAE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52BD4E9-0EC3-1540-5888-0AD6F512027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1E7ED8E-22F8-50A8-78A6-96D529E58C90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B2D9E8E-9205-9313-6E87-0217EEDFAFC3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5B1DDC1-DD1F-AEAF-208C-50A3D93C35C4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4A1493F-DB09-FBDE-499A-1278C6B40354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31408C1-20A2-15C1-0F2F-6D0553D0EB4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D4D67D3-2791-8DAF-2C3F-AC8DEAA748D0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2D10E0F-2145-F2DB-EBAE-E6063960ED71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5BFAD07-61E9-C4F1-42D2-7B755D5A6E0D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50FE6AB-822E-68A9-F0D8-9E815A247ED9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6ED5699-D606-E509-90CD-492131144303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2CABBD1-6E03-0F36-28CA-8DA75E57A05F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16F8CF1-0E4A-182F-E17D-4AF54198479B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7230A64-B305-1EA7-DE69-79E43C51F8D2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2400" b="1" dirty="0" err="1">
                <a:solidFill>
                  <a:srgbClr val="14213D"/>
                </a:solidFill>
                <a:latin typeface="Trebuchet MS"/>
              </a:rPr>
              <a:t>人物视角</a:t>
            </a:r>
            <a:r>
              <a:rPr sz="2400" b="1" dirty="0">
                <a:solidFill>
                  <a:srgbClr val="14213D"/>
                </a:solidFill>
                <a:latin typeface="Trebuchet MS"/>
              </a:rPr>
              <a:t> 01：某老师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6972A8A-9DD3-6CCD-4899-EFCB0B24CF42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02506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zh-CN" b="1" dirty="0"/>
              <a:t>基础文本指标</a:t>
            </a:r>
            <a:r>
              <a:rPr lang="zh-CN" altLang="en-US" b="1" dirty="0"/>
              <a:t>、</a:t>
            </a:r>
            <a:r>
              <a:rPr lang="zh-CN" altLang="zh-CN" b="1" dirty="0"/>
              <a:t>语义一致性</a:t>
            </a:r>
            <a:r>
              <a:rPr lang="zh-CN" altLang="en-US" b="1" dirty="0"/>
              <a:t>、</a:t>
            </a:r>
            <a:r>
              <a:rPr lang="zh-CN" altLang="zh-CN" b="1" dirty="0"/>
              <a:t>人格</a:t>
            </a:r>
            <a:r>
              <a:rPr lang="en-US" altLang="zh-CN" b="1" dirty="0"/>
              <a:t>/</a:t>
            </a:r>
            <a:r>
              <a:rPr lang="zh-CN" altLang="zh-CN" b="1" dirty="0"/>
              <a:t>风格一致性</a:t>
            </a:r>
            <a:r>
              <a:rPr lang="zh-CN" altLang="en-US" b="1" dirty="0"/>
              <a:t>、</a:t>
            </a:r>
            <a:r>
              <a:rPr lang="zh-CN" altLang="zh-CN" b="1" dirty="0"/>
              <a:t>大模型裁判</a:t>
            </a:r>
            <a:r>
              <a:rPr lang="zh-CN" altLang="en-US" b="1" dirty="0"/>
              <a:t>、</a:t>
            </a:r>
            <a:r>
              <a:rPr lang="zh-CN" altLang="zh-CN" b="1" dirty="0"/>
              <a:t>行为稳定性</a:t>
            </a:r>
            <a:endParaRPr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FE761E1-B4C4-E61C-E505-110538C489F3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B647AA3-5B49-A839-C6A2-64850539DEF3}"/>
              </a:ext>
            </a:extLst>
          </p:cNvPr>
          <p:cNvSpPr>
            <a:spLocks noGrp="1"/>
          </p:cNvSpPr>
          <p:nvPr/>
        </p:nvSpPr>
        <p:spPr>
          <a:xfrm>
            <a:off x="2993741" y="2404373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C583E89-28AB-05C9-4F17-99284DF591D5}"/>
              </a:ext>
            </a:extLst>
          </p:cNvPr>
          <p:cNvSpPr>
            <a:spLocks noGrp="1"/>
          </p:cNvSpPr>
          <p:nvPr/>
        </p:nvSpPr>
        <p:spPr>
          <a:xfrm>
            <a:off x="6210300" y="2391761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DAE780A-AF9D-0866-C56D-71971763B1B1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BLEU4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4C421B5-0F12-B904-C8E8-95974ADADE6A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D6225C7-AA48-79BE-5B9A-F74607D3BCDC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58CD618-A727-DF09-2976-800108102106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CA27142-C8A0-BFBD-D111-9CFCC28B52CA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E98B5A4-B5E4-E999-1F93-4F95270D2F90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0.0059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9388F63-41B1-B1E8-E240-D671A314EA48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0.0137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18F6852-5A14-F2D4-6DAD-6099AEF36A79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KHR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5C85F50-474E-4B88-87A6-737A00526538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0360C93-47F8-B95F-CE8C-FB0A931806B3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D3EA0FE-14D7-647E-15DD-6B8D579220F8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B6281E0-0563-8951-E151-221DB8B9B4D3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D0E77C4-D925-C8B2-9B62-9AC1B683059D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0.0086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856F492-D93D-0D69-3776-C88364C83D2B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0.0114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B88B5BE-1D77-31E6-8C1E-BD7610885600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PuncSim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05CC278-2462-4200-E50A-7592F2C6A017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66DD7D2-BF5E-EBB2-3FE0-5293C4156EF8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2971917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79B92EF-E95F-FD7C-11F6-DFCF77F49C3D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5262E59-222C-A657-ACEF-8B0D46CBDE1B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C245C5E-4D80-4497-12B2-CC3C1A98FD40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0.9750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9D41C00-1F05-79D3-007F-0742A6A05FAF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1.0000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584B639-13EE-B6BB-FD64-289F9976E1CE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ModalSim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181AF12-7A70-A6B7-97CB-110E8A4A5D5E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7C4B809-5DA5-D95A-69BB-A5AD174D9FFB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2758427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5E1B4F6-F53D-4FF5-767F-AC140EE75020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C860831-1D7A-7386-F6B8-5658CF926F34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2931885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FC2D31C-72FF-822D-8A2A-C94153041E5D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0.9050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12F4610-22D6-82B1-8F02-922BAB65DA70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0.9619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66D815E-18E4-238E-CA45-C5DF4441DD6D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FF0000"/>
                </a:solidFill>
                <a:latin typeface="Consolas"/>
              </a:rPr>
              <a:t>WinRate</a:t>
            </a:r>
            <a:endParaRPr sz="900" b="1" dirty="0">
              <a:solidFill>
                <a:srgbClr val="FF0000"/>
              </a:solidFill>
              <a:latin typeface="Consolas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E3FE4D3-CA6C-A4D0-0293-332D02B348D8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0D30CF6-17E7-2EF9-7EA8-F3B46452CD1A}"/>
              </a:ext>
            </a:extLst>
          </p:cNvPr>
          <p:cNvSpPr>
            <a:spLocks noGrp="1"/>
          </p:cNvSpPr>
          <p:nvPr/>
        </p:nvSpPr>
        <p:spPr>
          <a:xfrm>
            <a:off x="2019300" y="4438649"/>
            <a:ext cx="762000" cy="76199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AB19FCC6-3FCF-A2B7-FC78-320BEF6642FF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A352130D-CA91-6426-DAE6-06FC493B957D}"/>
              </a:ext>
            </a:extLst>
          </p:cNvPr>
          <p:cNvSpPr>
            <a:spLocks noGrp="1"/>
          </p:cNvSpPr>
          <p:nvPr/>
        </p:nvSpPr>
        <p:spPr>
          <a:xfrm>
            <a:off x="5257799" y="4438650"/>
            <a:ext cx="2265505" cy="45719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ECC9F0F-E831-012B-7C1F-44D5E2EC74E2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2857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0967BB4-09F2-0992-70FD-9FBABB0637BB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7143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73F9B8C-AB02-C181-C2E5-9C141C3EC45E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AdvDrift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63B1779-2E18-79C3-93F9-78508A9DDBE6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500F0D9-B61D-849D-974F-E6EDE8EDE9C2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1635426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456A3EF-D87D-45A3-CC04-E6E2B2646AB4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C846B66-E849-CAA0-9BCE-38760525BC15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2069295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520D26C-62B9-09B3-B58E-A4788A725A2F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0.5366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77F9C833-3CE9-DC4B-1A8D-9C530FD14C1B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0.6789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4FF0810-4CDB-E3B5-BC9B-BA820EC7858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28700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en-US" altLang="zh-CN" dirty="0"/>
              <a:t>L3</a:t>
            </a:r>
            <a:r>
              <a:rPr lang="zh-CN" altLang="en-US" dirty="0"/>
              <a:t>指标</a:t>
            </a:r>
            <a:r>
              <a:rPr lang="en-US" altLang="zh-CN" dirty="0"/>
              <a:t>base</a:t>
            </a:r>
            <a:r>
              <a:rPr lang="zh-CN" altLang="zh-CN" dirty="0"/>
              <a:t>模型</a:t>
            </a:r>
            <a:r>
              <a:rPr lang="zh-CN" altLang="en-US" dirty="0"/>
              <a:t>本身</a:t>
            </a:r>
            <a:r>
              <a:rPr lang="zh-CN" altLang="zh-CN" dirty="0"/>
              <a:t>比较高可能是因为真实回复和</a:t>
            </a:r>
            <a:r>
              <a:rPr lang="en-US" altLang="zh-CN" dirty="0"/>
              <a:t>base</a:t>
            </a:r>
            <a:r>
              <a:rPr lang="zh-CN" altLang="zh-CN" dirty="0"/>
              <a:t>模型在符号使用、语气词方面就差不多</a:t>
            </a:r>
            <a:r>
              <a:rPr lang="zh-CN" altLang="en-US" dirty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87446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4EDAE3CA-01F8-4323-9166-D5798F39323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556EFA-D88E-4688-9898-D698BD8964BF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04BAD3-120D-47EF-81F6-F9342F6286BC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5C6257-7824-4820-B1F3-0F7804720AF8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788414-EE5B-4135-9997-6814A6DDE3F9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A2821C-4270-4621-8297-D247CD2C7839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32521B-4419-454B-901C-AA81419146C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ABCCCC-A15C-4EFB-8EAB-F442CF5B05D2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B6ECC1-FE95-4839-BF23-26F27F4995E9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6A202A-EE29-4ACF-BAC4-736000A74FBE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2006C5-331B-4752-BD4B-36667BFF2154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7CF18-F404-4C12-9D50-D0664535170D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6FCA45-C147-4CCA-BED0-BA3682BB0647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4A2666-5245-4B9D-A2DF-3BECF3489A9A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E2B452-DCFE-4D4C-889D-BF87C4D0B8D0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人物视角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01：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老师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176877-047F-4651-B4E2-21A7E0B3EEE4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主要关注</a:t>
            </a:r>
            <a:r>
              <a:rPr lang="en-US" altLang="zh-CN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L4</a:t>
            </a: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和</a:t>
            </a:r>
            <a:r>
              <a:rPr lang="en-US" altLang="zh-CN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L5</a:t>
            </a: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指标表现不错。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D13B19-CBE2-436B-8089-DAF5ABA73792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15E732-43D1-4CC8-BD67-421931425E21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EmbCos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A060B7-BE80-4DDC-8BBE-FA460661306C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929920-7736-4F0D-B2BA-903134E47B61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1003415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B3DC9F-2217-4886-B621-A93FC40FC142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70C89D-BCF8-4AE3-98B7-AF5E92C8BD75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1342122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7839C3-F2F9-4D43-AADC-70BC71141EC4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0.2764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C4959E-3B7C-4ED0-9B42-B844491F9F68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0.3697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B374FF-2A34-4302-93C8-70C1ECE002D3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LenSim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6090B4-367C-4B96-8BB3-55D4B6E3C954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9716181-96FC-420A-8A72-AB90D8861DB5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69992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456048-2D6D-4BD9-A764-0DAB55FB0454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DECCC0-505E-4CED-8FAE-E5DE7C236752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770497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331A8D-BB33-4EC9-93B5-45CF0325F141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0.1928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47DAEF-7FAB-4309-BFFF-24021544E940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0.4877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C2C55A-F8BA-483B-9323-DCB95EB9A31E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CEB8969-DFBD-4F90-959C-3C619C06FB12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131E01-6956-465E-8663-2D61F597277C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87490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FB85FF-811E-4AEA-8185-13A93C968CF9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9EE1D7B-E9FD-4651-AB8D-7483466F2FDE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1261892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847A50-2EB4-4E79-8D12-FA7FC55FDCCF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5229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AA6302F-A754-43EB-98BB-2D004928C7CE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.4771		0.4962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15FFD9A-1F3E-4880-8FED-782AF46375C3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dirty="0">
                <a:solidFill>
                  <a:srgbClr val="14213D"/>
                </a:solidFill>
                <a:latin typeface="Consolas"/>
              </a:rPr>
              <a:t>Semantic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D4E6C0-CB25-4C20-80E2-328E0ABF56B2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F084624-A13E-4560-AFFE-CE84AB2072C5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156893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EC705B-84AE-40DB-90F4-754B02CC77B1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011905-1353-4AAE-AF2C-9F83CD2506E9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1770496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51F81F0-4D76-401A-8C4B-58624A785BB6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5038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FB21FD2-D94F-463E-B8F3-87B80232D7C9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CCDB663-E5DC-4BBA-8AA0-EF6F739BFC75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CB069CE-6319-48D1-A5C6-894DB5522652}"/>
              </a:ext>
            </a:extLst>
          </p:cNvPr>
          <p:cNvSpPr>
            <a:spLocks noGrp="1"/>
          </p:cNvSpPr>
          <p:nvPr/>
        </p:nvSpPr>
        <p:spPr>
          <a:xfrm>
            <a:off x="2019299" y="4438650"/>
            <a:ext cx="1777037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FBB9FB-5DB5-452B-8BF4-A3E344A8CE92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1CE8520-E9D9-46CA-9C56-701E71D93FEE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1464617" cy="952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CD47DF3-E108-4D62-85D9-05DF2166157B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5629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8C82DFF-6437-468E-B0AD-310A53DB9E34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4371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947FEFA-82CA-425A-B552-C6E60171B184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StyleCons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3475503-3744-4852-9324-50740CF9E916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510D301-3235-4AD9-8780-C782CB9D9744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29848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B817FA0-E2B2-416C-8177-DBD0574935E5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947BE3C-FED5-4516-9482-B407AD64ABAB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51593B7-1E76-4DB4-8CBF-95C2750E55B9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0.8346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9928D76-433E-4727-B657-DCBED329977B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0.8396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8DCFCA6-7A6C-4949-86B3-8A11AC13486A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28700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en-US" dirty="0"/>
              <a:t>有些指标</a:t>
            </a:r>
            <a:r>
              <a:rPr lang="en-US" altLang="zh-CN" dirty="0"/>
              <a:t>base</a:t>
            </a:r>
            <a:r>
              <a:rPr lang="zh-CN" altLang="zh-CN" dirty="0"/>
              <a:t>模型</a:t>
            </a:r>
            <a:r>
              <a:rPr lang="zh-CN" altLang="en-US" dirty="0"/>
              <a:t>本身</a:t>
            </a:r>
            <a:r>
              <a:rPr lang="zh-CN" altLang="zh-CN" dirty="0"/>
              <a:t>比较高可能是因为真实回复和</a:t>
            </a:r>
            <a:r>
              <a:rPr lang="en-US" altLang="zh-CN" dirty="0"/>
              <a:t>base</a:t>
            </a:r>
            <a:r>
              <a:rPr lang="zh-CN" altLang="zh-CN" dirty="0"/>
              <a:t>模型在符号使用、语气词方面就差不多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1136C1F-800F-690D-26D6-1097DB5C870A}"/>
              </a:ext>
            </a:extLst>
          </p:cNvPr>
          <p:cNvSpPr/>
          <p:nvPr/>
        </p:nvSpPr>
        <p:spPr>
          <a:xfrm>
            <a:off x="791823" y="4648200"/>
            <a:ext cx="7674654" cy="3967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D5FCB2-818B-F46C-A3C8-B2824361BD1F}"/>
              </a:ext>
            </a:extLst>
          </p:cNvPr>
          <p:cNvSpPr>
            <a:spLocks noGrp="1"/>
          </p:cNvSpPr>
          <p:nvPr/>
        </p:nvSpPr>
        <p:spPr>
          <a:xfrm>
            <a:off x="2997143" y="2386012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0A9618-172E-0DBB-3147-3C6EF3043675}"/>
              </a:ext>
            </a:extLst>
          </p:cNvPr>
          <p:cNvSpPr>
            <a:spLocks noGrp="1"/>
          </p:cNvSpPr>
          <p:nvPr/>
        </p:nvSpPr>
        <p:spPr>
          <a:xfrm>
            <a:off x="6287550" y="2381250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</p:spTree>
    <p:extLst>
      <p:ext uri="{BB962C8B-B14F-4D97-AF65-F5344CB8AC3E}">
        <p14:creationId xmlns:p14="http://schemas.microsoft.com/office/powerpoint/2010/main" val="939872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95DA4-97CC-8A9F-C839-8463A487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AE0FA4-9EF4-DB04-E120-879919448965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6A6896-0785-8D7C-0F84-2920F7955104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902BA-945F-0B08-5E51-1C5D34D25A37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E480E6-04B5-6935-4849-BEA40547C471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F8748D-37CE-597B-9309-F53E1D154DD8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6611B9-E0A8-479D-81E2-C38F65446BAE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CAC92A-81A2-5564-1BD9-0C3F94480AF6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D43583-BC80-0A48-9E00-C1B8A27C6233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779817-9ABA-2EE6-60AF-6AF7B52D234E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037E66-AE2A-3A70-48BF-CC59E00E3031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7ABF8D-1847-A74B-5ACD-E70591DE8238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2368C8-D7A0-A3DD-F73E-2844A6500CB3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BEE778-CD24-E7CE-1BFE-B5BED608D7D6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7A6804-27AF-C076-DBEE-B6244BE8734D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915455-A7B0-9CE6-8197-98E584211BDD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2400" b="1" dirty="0" err="1">
                <a:solidFill>
                  <a:srgbClr val="14213D"/>
                </a:solidFill>
                <a:latin typeface="Trebuchet MS"/>
              </a:rPr>
              <a:t>人物视角</a:t>
            </a:r>
            <a:r>
              <a:rPr dirty="0"/>
              <a:t> </a:t>
            </a:r>
            <a:r>
              <a:rPr lang="en-US" altLang="zh-CN" sz="2400" b="1" dirty="0">
                <a:solidFill>
                  <a:srgbClr val="14213D"/>
                </a:solidFill>
                <a:latin typeface="Trebuchet MS"/>
              </a:rPr>
              <a:t>02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</a:rPr>
              <a:t>：某同学</a:t>
            </a:r>
            <a:endParaRPr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575D29-808A-C20F-416A-5303F2BB5AE2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en-US" sz="1275" dirty="0">
                <a:solidFill>
                  <a:srgbClr val="5B6B84"/>
                </a:solidFill>
                <a:latin typeface="Trebuchet MS"/>
              </a:rPr>
              <a:t>和某老师情况差不多，指标是三个人中最优秀的，应该是因为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</a:rPr>
              <a:t>数据量最大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</a:rPr>
              <a:t>。</a:t>
            </a:r>
            <a:endParaRPr sz="1275" dirty="0">
              <a:solidFill>
                <a:srgbClr val="5B6B84"/>
              </a:solidFill>
              <a:latin typeface="Trebuchet M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317F9D-3492-45FC-7313-D768DFB7035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2583C9-449A-AA48-07B0-A1F98C016773}"/>
              </a:ext>
            </a:extLst>
          </p:cNvPr>
          <p:cNvSpPr>
            <a:spLocks noGrp="1"/>
          </p:cNvSpPr>
          <p:nvPr/>
        </p:nvSpPr>
        <p:spPr>
          <a:xfrm>
            <a:off x="3184634" y="2410810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D7BAD1-80FF-3B8E-B873-497CF86585DC}"/>
              </a:ext>
            </a:extLst>
          </p:cNvPr>
          <p:cNvSpPr>
            <a:spLocks noGrp="1"/>
          </p:cNvSpPr>
          <p:nvPr/>
        </p:nvSpPr>
        <p:spPr>
          <a:xfrm>
            <a:off x="6350613" y="2409825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C7CE2F-1539-C3C7-A7B8-7D666620EF75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BLEU4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03BA47-5538-6619-10BE-8E883959B890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66254D-FF0A-B935-D790-6E293C689441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D68324-2088-4666-435F-897376DC09FE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B3A091-A84C-D9C9-57EE-4D0BE3844168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BB86E9-5595-0129-11BA-EA60621DBDA0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0.0094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8787F7-A533-6C09-9E48-72B78F119CD3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1E333C-36CD-E00A-54C2-8DADE0BEEA79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KHR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26D83E-CCCC-2412-906C-3E14E244319D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EBBF35-42EB-7425-2908-64E9A774E5E2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DDE8DB-6916-497D-6974-9FCEE6C9481F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BCEA05-7E35-FA76-A044-94D0480A689F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B7873F-0110-B1F1-020B-C1CCF563D066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0.0104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174580-F20A-1D3C-606B-F0674405BB82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0.0121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035B1C-B848-CA49-6180-6E47AD9FDFDE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PuncSim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74A94AA-F585-9095-4D41-2C456BA31B28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04071A-6531-F593-4003-33AD07A4E9BF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2905146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3FC337-8975-AE61-F44A-3A60272F93BB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39158A-1EB0-237A-994B-0B0707FE5782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2E3272D-5E71-652E-501E-D5564BFE034A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0.9499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8F7F0A-F49A-DE74-0BBB-27339F832249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0.9966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B6EFE3-F571-B868-D68B-6201C12DD9CC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ModalSim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799A77F-E125-0D6A-1C42-2AE93B18070D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E4BDFBA-0585-26AF-83CC-393CAFB5A6BE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2587015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182B1E1-CE18-BF9B-14FA-9D5F92D6ECC3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2D5767B-3EAC-4B2D-528A-E86C0F5ECDE8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2921875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B0DF45F-5EC8-2A2E-6F7D-7EAE2C20E49A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0.8458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95E869-91DB-1283-35B7-B0C290FB50FA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0.9553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5BEB3DD-4FB0-B755-6A88-2648609A5D6C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FF0000"/>
                </a:solidFill>
                <a:latin typeface="Consolas"/>
              </a:rPr>
              <a:t>WinRate</a:t>
            </a:r>
            <a:endParaRPr sz="900" b="1" dirty="0">
              <a:solidFill>
                <a:srgbClr val="FF0000"/>
              </a:solidFill>
              <a:latin typeface="Consola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5E0CBF4-7141-BA7B-CCB3-9AADCFC8647B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D8951CC-B39E-80FB-7555-CDD9BB4CA9DE}"/>
              </a:ext>
            </a:extLst>
          </p:cNvPr>
          <p:cNvSpPr>
            <a:spLocks noGrp="1"/>
          </p:cNvSpPr>
          <p:nvPr/>
        </p:nvSpPr>
        <p:spPr>
          <a:xfrm>
            <a:off x="2019300" y="4419600"/>
            <a:ext cx="1165334" cy="952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D9D1034-0D28-716E-34AA-730FAFA23443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9593BB9-78EB-C026-8E9B-C9191207A273}"/>
              </a:ext>
            </a:extLst>
          </p:cNvPr>
          <p:cNvSpPr>
            <a:spLocks noGrp="1"/>
          </p:cNvSpPr>
          <p:nvPr/>
        </p:nvSpPr>
        <p:spPr>
          <a:xfrm>
            <a:off x="5257800" y="4438649"/>
            <a:ext cx="1866902" cy="85725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61EA08B-2B99-6650-D513-962B70CA3084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3986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D7AD692-C2AC-0DC4-F8AB-9579EB2E6103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6014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2C87D99-C20C-84F6-10F1-B7A6839A102E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AdvDrift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52AE43F-0C7C-6497-BDA5-8DCDF8B09567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F614169-E4C9-B5D9-1970-D5B970571905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193767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1253204-C183-2C71-4306-609E43B682DD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C0F2D12-2563-585D-78AC-7C59F0FE9D68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1537876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54A290B-B503-75A4-A40F-B00FEBBAF902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0.6335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619397A-F88E-2924-CB5C-376D9ACC2514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0.5028</a:t>
            </a:r>
          </a:p>
        </p:txBody>
      </p:sp>
    </p:spTree>
    <p:extLst>
      <p:ext uri="{BB962C8B-B14F-4D97-AF65-F5344CB8AC3E}">
        <p14:creationId xmlns:p14="http://schemas.microsoft.com/office/powerpoint/2010/main" val="3871582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73F62DB8-5D53-4A2E-84CF-C7C291BE01E6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BA18FE-54DD-41DF-9A60-D21EF39CA96A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34889C-8EA8-4713-AF40-02E29B87F738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DEB4B2-AAE2-4D34-981E-CDE0C198737C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7F7F1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AAF9CC-2DE1-4C1B-A8AC-4D0B63DF1264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61223C-E874-4A20-99FE-C778AEE8260A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4D3BD6-8142-4FA5-8A82-49CD8CD70E24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5B3108-877D-423A-AA70-7C07EFB488FB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578435-A8E0-4F2D-92C1-4EE90C71BC6D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9CE00D-3DE4-4750-A82D-41092D07E693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676957-C60B-4FA5-A18F-4FB6D0C59214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CBEEB5-580C-47F0-9DA0-DC18FF2D9C6C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833F59-DAA1-4D95-9D1A-3F292E3FE318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E11E3B-CE72-42FB-A854-88F978CD178C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E94522-5E7B-4869-9A38-6386BA4CB43C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人物视角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02：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某同学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BC3F79-31CC-4938-9CD6-0BEC6A50D9C7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en-US" sz="1275" dirty="0">
                <a:solidFill>
                  <a:srgbClr val="5B6B84"/>
                </a:solidFill>
                <a:latin typeface="Trebuchet MS"/>
              </a:rPr>
              <a:t>和某老师情况差不多，指标是三个人中最优秀的，可能是因为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</a:rPr>
              <a:t>数据量最大。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99DEA3-C772-4CB9-85A7-02FB77AB2923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A2D264-5964-4C9F-8155-228F5745A4E9}"/>
              </a:ext>
            </a:extLst>
          </p:cNvPr>
          <p:cNvSpPr>
            <a:spLocks noGrp="1"/>
          </p:cNvSpPr>
          <p:nvPr/>
        </p:nvSpPr>
        <p:spPr>
          <a:xfrm>
            <a:off x="3127879" y="2438400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B49A68-D1F6-41FA-A19D-B489BB5118A1}"/>
              </a:ext>
            </a:extLst>
          </p:cNvPr>
          <p:cNvSpPr>
            <a:spLocks noGrp="1"/>
          </p:cNvSpPr>
          <p:nvPr/>
        </p:nvSpPr>
        <p:spPr>
          <a:xfrm>
            <a:off x="6451513" y="2419350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6D67FC-6814-4F73-8230-4A75F5808373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EmbCos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C9A898-8E72-4833-A932-501078449CA4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52D110-9E10-4293-B61D-9E616D921ACF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1252898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995964-86A5-45B8-9F63-B9447E2CBB24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D9176D-A00E-4D37-89B5-B9206066836F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1524842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09BB06-E1AB-41E7-ADD7-C0BAD149F7BE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0.3718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9075F4-612D-4861-9377-D7991EE2DD5D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0.4525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B596DD-FE35-42AD-B64B-F2EC9886587D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LenSim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542AE7-53C2-4C2C-BC27-8425C520CDD5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40F9F3-A98D-4C9F-B2BD-AF32F4BCE169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731924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E73996-2823-43CB-BDD0-E29C6E74A712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1C2B32-702F-4EFA-8285-1D439C938315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74725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4CF35E4-A7FE-43CF-A99B-B21A938F197E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0.2172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EBBB76-EBD0-4101-912E-B150C4363229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0.5185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2E142-C257-43A3-912B-7832632A91A3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73A5F3C-8812-47D2-B6C5-517C33CB8C20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5CAD50-51E9-4ED7-8C93-59AF3B1776E8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99477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7FA4E1-57C5-49B7-AF8A-3EA9E60A832A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B8A9DA0-75B3-426B-9A62-6E1CD2D792CD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192497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D65B541-1165-4DE1-AAD9-6D47D02F9138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3120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E71117B-772B-448F-85F4-4E455053AF53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6880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FCC5A4B-FE3A-4467-90AC-EB05DDF3102E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dirty="0">
                <a:solidFill>
                  <a:srgbClr val="14213D"/>
                </a:solidFill>
                <a:latin typeface="Consolas"/>
              </a:rPr>
              <a:t>Semantic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A549E7-999D-41EE-B73D-3E852EB76367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C3A5E42-9E24-4351-9A69-1024900A885F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1252898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1D408FF-989D-4EBA-A629-654691B6B4F9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11C2CAB-4B84-4250-9D2E-C1EE679D49C5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1738152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BDA352B-76AC-4553-B41D-65F500DE11EE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3674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BFF1D0-5594-4508-8233-D114DD12E3B4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6326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D8214A5-7863-4CF5-82AA-32D098738CDA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76CA9A-ED13-4134-AC1E-48CEE2DFD5F5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C2F6ABD-09AC-4132-B287-288E537B3F5F}"/>
              </a:ext>
            </a:extLst>
          </p:cNvPr>
          <p:cNvSpPr>
            <a:spLocks noGrp="1"/>
          </p:cNvSpPr>
          <p:nvPr/>
        </p:nvSpPr>
        <p:spPr>
          <a:xfrm>
            <a:off x="2019299" y="4438650"/>
            <a:ext cx="1171641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28B32D4-0C96-4E74-AF41-B1AEEF30A3CF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2DCF6C1-A727-493A-A0CD-EE93A9085DD3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1866902" cy="85725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C85452-5DB8-487A-B92D-F0FC57D4A050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3378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0566057-4535-49EC-9CA2-9DE3C9E183AC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6622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EF11A7B-06B0-469C-9249-44FF0542F3D7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StyleCons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39468C6-E87F-4C79-8DA8-5729ECEBEE57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67F7C35-E735-449C-B19E-01EF367A5854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2588694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7D6A930-B04F-4AD2-B256-399D7866A464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DDC9C4E-638D-4598-97B0-21A223F229AD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7C3DFD8-EC3F-44B6-8732-BB53C3EA0A5D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0.7682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524F940-B7A6-4B07-8522-51A5B9D66312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0.9045</a:t>
            </a:r>
          </a:p>
        </p:txBody>
      </p:sp>
    </p:spTree>
    <p:extLst>
      <p:ext uri="{BB962C8B-B14F-4D97-AF65-F5344CB8AC3E}">
        <p14:creationId xmlns:p14="http://schemas.microsoft.com/office/powerpoint/2010/main" val="134622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BA81A-E60C-A189-4308-A2FE8B2A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54560D-D41E-0EA8-0CC9-AA9329A1ADD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B7FF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87F15B-5018-938F-50CD-3E072E1E8D2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1E6ADE-9EAE-4F00-22D4-A62C39CBEC17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7655E-BB0B-2A6B-C86F-015EBB2C6919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38AB87-A13C-1406-FD5D-89D7501A06A6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7F3249-0BD8-4F45-1034-ACEA574D0070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397EA9-CBDD-5F96-A446-D514B457CCD2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95C390-4159-A4F7-A79C-F4C3E40ED2B2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AFBB45-36DD-00F4-4A4A-282FE966ECAD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165C2A-3823-FA15-9027-FDF40CEEF7D9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1CCA9F-7599-9532-9BB5-CE78A61E01B1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FF4FB7-923C-7C09-A122-805BB3AE2D78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B31147-FF1C-9629-9EE0-9E257BD1FDDB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E019A0-A890-5239-842F-ED7C189FBF4D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A620E4-43C1-8CAC-BF58-AB1EA589956D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2400" b="1" dirty="0" err="1">
                <a:solidFill>
                  <a:srgbClr val="14213D"/>
                </a:solidFill>
                <a:latin typeface="Trebuchet MS"/>
              </a:rPr>
              <a:t>人物视角</a:t>
            </a:r>
            <a:r>
              <a:rPr sz="2400" b="1" dirty="0">
                <a:solidFill>
                  <a:srgbClr val="14213D"/>
                </a:solidFill>
                <a:latin typeface="Trebuchet MS"/>
              </a:rPr>
              <a:t> 03：某亲人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D7A918-4572-404E-AFFB-DE2673E18153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有增益，但没有前两组稳定；这更像是</a:t>
            </a:r>
            <a:r>
              <a:rPr lang="zh-CN" altLang="en-US" sz="1275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数据问题。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D10CE5-606B-7420-2A59-B4B4F7B80FE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A4C7C1-324C-E623-A42F-E745E1711793}"/>
              </a:ext>
            </a:extLst>
          </p:cNvPr>
          <p:cNvSpPr>
            <a:spLocks noGrp="1"/>
          </p:cNvSpPr>
          <p:nvPr/>
        </p:nvSpPr>
        <p:spPr>
          <a:xfrm>
            <a:off x="3295650" y="2427496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DBDE76-E4ED-3356-52A5-D578C874BC1E}"/>
              </a:ext>
            </a:extLst>
          </p:cNvPr>
          <p:cNvSpPr>
            <a:spLocks noGrp="1"/>
          </p:cNvSpPr>
          <p:nvPr/>
        </p:nvSpPr>
        <p:spPr>
          <a:xfrm>
            <a:off x="6312776" y="2432948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BC6C16-B1F8-0053-BA10-737BD8D42D41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BLEU4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92FC1B-3E1F-B17C-8FAF-1CDF1376FE15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1F0E01-F259-B47B-5E8A-8A59FB93BCEC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90F765-218D-D4BC-5D51-6BB71B4DA6E5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E9B789-C641-EF3D-F17F-113A4D6DC9A7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F3B73B-88D0-45BC-5CAB-A1694E0AB001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0.0125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1B855F-0304-E650-1A13-16AFDA045F2B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CB17A8D-AC6A-3DCF-3804-2A43F3D3F373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>
                <a:solidFill>
                  <a:srgbClr val="14213D"/>
                </a:solidFill>
                <a:latin typeface="Consolas"/>
              </a:rPr>
              <a:t>KHR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71BD195-5BAB-45C2-8A6D-479629D52EC9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51AD58-0732-EE45-5466-9F569E637DE4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7620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88BFA23-9EDC-6A65-A39A-5C0B392B65CA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CA8AF20-854C-F048-2151-22C6CAC10D3E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762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014AB-62C1-501A-D2FC-DF5B3F3E178A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0.0149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D9201EC-EEA7-9B2F-3DA4-92D6E180B5AA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0.0142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835E59-EB7D-1CC4-A1B7-9DA1AD3C95C3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PuncSim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234B1B-1525-51BC-7A36-158AB5F6B451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F2F1928-5B32-699D-FC9B-05633B81FB11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262938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FD335C-FA74-B5FF-877E-DE9CF8A61060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2227ED-0E79-74C2-7A69-6FD965673855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B3C0144-F2A7-8A27-8E45-8B5D41953003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0.8320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880C30-AAF6-9BEC-9DDA-635AF148C7B0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0.9645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BEBFAFD-2CC7-770B-0CCB-892B7BD30D9F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ModalSim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14234B6-6493-700D-6AC8-33D8E53D75FB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6646777-FB4F-0A81-CE85-0D1774A8C9B4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2385244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47E8C6F-B614-E863-87B1-514EB88759A8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CE81155-7F52-19B5-C928-F377BE4A9AC7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2845637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087217C-8BCD-F814-1CE2-C2D9F7487031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0.7548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A4A8A6-3D30-A9F2-0C6B-C469B04A8C7D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0.9005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CFF31B-1411-17D5-8CD8-A0ABC707B95B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FF0000"/>
                </a:solidFill>
                <a:latin typeface="Consolas"/>
              </a:rPr>
              <a:t>WinRate</a:t>
            </a:r>
            <a:endParaRPr sz="900" b="1" dirty="0">
              <a:solidFill>
                <a:srgbClr val="FF0000"/>
              </a:solidFill>
              <a:latin typeface="Consola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FF386BF-0A15-B6E4-6BF4-F3E8766649F2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0F2D84D-026F-FAB7-734E-16F28E71BF3D}"/>
              </a:ext>
            </a:extLst>
          </p:cNvPr>
          <p:cNvSpPr>
            <a:spLocks noGrp="1"/>
          </p:cNvSpPr>
          <p:nvPr/>
        </p:nvSpPr>
        <p:spPr>
          <a:xfrm>
            <a:off x="2019300" y="4419600"/>
            <a:ext cx="1879206" cy="95249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542AF72-2DB7-CF1A-E1F0-160E958D34CB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C6B6CF5-4D28-8BF0-F57B-1C7ACD044D3D}"/>
              </a:ext>
            </a:extLst>
          </p:cNvPr>
          <p:cNvSpPr>
            <a:spLocks noGrp="1"/>
          </p:cNvSpPr>
          <p:nvPr/>
        </p:nvSpPr>
        <p:spPr>
          <a:xfrm>
            <a:off x="5257799" y="4438649"/>
            <a:ext cx="1363717" cy="85725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E6B00BD-193F-0CD5-5917-7293646EC77A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5913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720A1D6-DE90-3F98-BA6B-F0AC6ECC3D18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</a:t>
            </a:r>
            <a:r>
              <a:rPr lang="en-US" sz="825" dirty="0">
                <a:solidFill>
                  <a:srgbClr val="5B6B84"/>
                </a:solidFill>
                <a:latin typeface="Consolas"/>
              </a:rPr>
              <a:t>4087</a:t>
            </a:r>
            <a:endParaRPr sz="825" dirty="0">
              <a:solidFill>
                <a:srgbClr val="5B6B84"/>
              </a:solidFill>
              <a:latin typeface="Consola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64673D4-7D5A-DEE4-D051-15445D7BFF77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900" b="1" dirty="0" err="1">
                <a:solidFill>
                  <a:srgbClr val="14213D"/>
                </a:solidFill>
                <a:latin typeface="Consolas"/>
              </a:rPr>
              <a:t>AdvDrift</a:t>
            </a:r>
            <a:endParaRPr sz="900" b="1" dirty="0">
              <a:solidFill>
                <a:srgbClr val="14213D"/>
              </a:solidFill>
              <a:latin typeface="Consola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5D828EE-14C1-9822-0AB9-6D66523C70A9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B1076C8-60F0-EAFD-291E-42A2DD0CC6BB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1879206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D090756-04F0-51F9-4604-22EDFE0A7FA5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BB5E369-48CF-A654-CC4E-B48FB6F7A49D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1723454" cy="762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9E704D1-D151-8784-44F0-C7D39C255F66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0.5946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D3814F6-E7C7-15B2-584B-52A39149EB2A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sz="825" dirty="0">
                <a:solidFill>
                  <a:srgbClr val="5B6B84"/>
                </a:solidFill>
                <a:latin typeface="Consolas"/>
              </a:rPr>
              <a:t>0.5454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EC06FB-6EEC-6FA9-610D-0DEE6B9E757B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28700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500" b="0" i="1">
                <a:solidFill>
                  <a:srgbClr val="5B6B84"/>
                </a:solidFill>
                <a:latin typeface="Georgia"/>
                <a:ea typeface="Georgia"/>
                <a:cs typeface="Georgia"/>
              </a:defRPr>
            </a:pPr>
            <a:r>
              <a:rPr lang="zh-CN" altLang="en-US" sz="140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这组数据更跳跃、更无厘头，导致风格信号更分散，</a:t>
            </a:r>
            <a:r>
              <a:rPr lang="en-US" altLang="zh-CN" sz="1400" i="1" dirty="0" err="1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LoRA</a:t>
            </a:r>
            <a:r>
              <a:rPr lang="zh-CN" altLang="en-US" sz="140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 更难学出稳定模式。</a:t>
            </a:r>
          </a:p>
        </p:txBody>
      </p:sp>
    </p:spTree>
    <p:extLst>
      <p:ext uri="{BB962C8B-B14F-4D97-AF65-F5344CB8AC3E}">
        <p14:creationId xmlns:p14="http://schemas.microsoft.com/office/powerpoint/2010/main" val="1095514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BF9DBD5B-E71D-481D-98D9-54A3067BE1C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6B57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D43F70-11A0-40BA-B3E8-2DAADF1646ED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784552-73BD-4996-898A-7C878BFF2B07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13A3AC-D747-45A2-9E2F-B615EFEFCDE7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93F3E0-036A-49D0-B5A7-51B7708B1126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19EB57-0BC0-44AA-8464-FA6D020DC3F1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7C2999-4A73-4DB3-B48F-5F259E602C5C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9578B1-1870-4E40-B32D-1A0C01D0CB10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08CB37-8AC3-495E-A6ED-D724CB5567F6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BFFADB-FF1D-43CE-97EA-77B81A35F150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B4BC34-0AE4-4E09-905F-B80BEEDBFC12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C3B2A4-C34C-445F-8BE9-F033DD77EB5C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EEF3A4-364A-4A8F-953C-6CC991F18DAC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B84F4F-6117-4B73-B1D7-5327F4946F56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90037-E9ED-4778-AC86-92B8AE134D9A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人物视角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03：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某亲人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CB6A64-3EBE-4C88-AD0C-69146DB7BAA7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 i="0" dirty="0" err="1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有增益，但没有前两组稳定；这更像是</a:t>
            </a:r>
            <a:r>
              <a:rPr sz="1275" b="0" i="0" dirty="0" err="1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数据问题</a:t>
            </a:r>
            <a:r>
              <a:rPr sz="1275" b="0" i="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6D965A-C49D-4C90-BED0-CACB825DAB5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29CB01-13A0-48A0-8D3C-2762CDCA90B3}"/>
              </a:ext>
            </a:extLst>
          </p:cNvPr>
          <p:cNvSpPr>
            <a:spLocks noGrp="1"/>
          </p:cNvSpPr>
          <p:nvPr/>
        </p:nvSpPr>
        <p:spPr>
          <a:xfrm>
            <a:off x="3159410" y="2390775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Base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28521F-6513-46CF-8BA6-FFAC7930C0BD}"/>
              </a:ext>
            </a:extLst>
          </p:cNvPr>
          <p:cNvSpPr>
            <a:spLocks noGrp="1"/>
          </p:cNvSpPr>
          <p:nvPr/>
        </p:nvSpPr>
        <p:spPr>
          <a:xfrm>
            <a:off x="6369532" y="2419350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 dirty="0" err="1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</a:t>
            </a:r>
            <a:r>
              <a:rPr sz="900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(history)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C5052E-04DC-43C2-91AA-D7A06955BE8E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EmbCos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E2023D-27B1-4AA4-A1F5-C691638F1714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BE8809-8DCC-4DF8-A845-2B2DAE6EBFC0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152754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124426-FA3D-451F-8967-88D9F1DAAA5A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B90574-006E-4D96-9C62-795771AD77C9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1543271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57BFF7-C1BF-401A-B861-ABD3EEAE0396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0.3884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6C786D-1FC0-47D5-ABFE-C5569165B4E3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0.3924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85D4F13-B3AF-4788-BE5C-622E5C83796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LenSim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B2D388-0C7E-4BEE-BCDE-4F7785E976CC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02A602-364F-44E6-89B6-2482015420EE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1512595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12B70EF-47DF-4C19-BB6B-CBBBD151CE4C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871785-A0A6-41E0-9138-4D1562537F9C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553103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DBC6004-5820-43CD-A47E-E87AECC152EA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0.3846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A3DBA3-8DA4-4A11-B24F-3D6D652E8600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0.3949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33E2B7-8DE8-4FAF-A47C-A5A29D9D3786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EBEA293-063E-4B29-924E-9717644F39FA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2F81CB1-E852-4677-9936-95E3C2CA9F57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1263642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5DBFA1A-115F-4ED2-9B84-D63BC409EC88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C60E14C-840D-4D1F-AD53-D0D6039AEBF7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192497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5D9B5F-CDEE-42AF-A63A-AA4B92D2F225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4496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CE824D6-11A1-480D-8859-2484FA86B720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825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.5504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BD2AEC0-27BD-456E-A60D-8D64FA4284F5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Semantic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9B83A32-83B8-4E68-8146-1DD747595D19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5ED1703-621F-48C1-BC12-0A265116C7A6}"/>
              </a:ext>
            </a:extLst>
          </p:cNvPr>
          <p:cNvSpPr>
            <a:spLocks noGrp="1"/>
          </p:cNvSpPr>
          <p:nvPr/>
        </p:nvSpPr>
        <p:spPr>
          <a:xfrm>
            <a:off x="2019301" y="4038600"/>
            <a:ext cx="1392358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3B3EA6B-48DD-4B29-8D4A-5794A19D4716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7A5B045-6763-441A-9AA2-FC4C86574099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1740703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8DB083-B338-4142-B145-1B2EC46F155C}"/>
              </a:ext>
            </a:extLst>
          </p:cNvPr>
          <p:cNvSpPr>
            <a:spLocks noGrp="1"/>
          </p:cNvSpPr>
          <p:nvPr/>
        </p:nvSpPr>
        <p:spPr>
          <a:xfrm>
            <a:off x="20193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4722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184C42-6E82-4687-AE09-E1433C8ABD7D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5278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DEC0E26-B885-4409-9EFC-19BC8F5F0360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0066C67-0620-4E58-A809-C2527C39E554}"/>
              </a:ext>
            </a:extLst>
          </p:cNvPr>
          <p:cNvSpPr>
            <a:spLocks noGrp="1"/>
          </p:cNvSpPr>
          <p:nvPr/>
        </p:nvSpPr>
        <p:spPr>
          <a:xfrm>
            <a:off x="20193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88C5EE4-1BAD-4BD1-9252-AB395B13F39F}"/>
              </a:ext>
            </a:extLst>
          </p:cNvPr>
          <p:cNvSpPr>
            <a:spLocks noGrp="1"/>
          </p:cNvSpPr>
          <p:nvPr/>
        </p:nvSpPr>
        <p:spPr>
          <a:xfrm>
            <a:off x="2019300" y="4419600"/>
            <a:ext cx="1512595" cy="9525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4BCD3A-E90D-4F04-9602-EDAC6A04434F}"/>
              </a:ext>
            </a:extLst>
          </p:cNvPr>
          <p:cNvSpPr>
            <a:spLocks noGrp="1"/>
          </p:cNvSpPr>
          <p:nvPr/>
        </p:nvSpPr>
        <p:spPr>
          <a:xfrm>
            <a:off x="5257800" y="44386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F3ED25-F2A1-4AC7-81AB-0F855F35131E}"/>
              </a:ext>
            </a:extLst>
          </p:cNvPr>
          <p:cNvSpPr>
            <a:spLocks noGrp="1"/>
          </p:cNvSpPr>
          <p:nvPr/>
        </p:nvSpPr>
        <p:spPr>
          <a:xfrm flipV="1">
            <a:off x="5257800" y="4440685"/>
            <a:ext cx="1603353" cy="93214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BC9FE2-4433-4C17-B8DF-1B1AAACE04C6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4852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6E0A49-008A-4425-9995-C92850411279}"/>
              </a:ext>
            </a:extLst>
          </p:cNvPr>
          <p:cNvSpPr>
            <a:spLocks noGrp="1"/>
          </p:cNvSpPr>
          <p:nvPr/>
        </p:nvSpPr>
        <p:spPr>
          <a:xfrm>
            <a:off x="5257800" y="42481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</a:t>
            </a:r>
            <a:r>
              <a:rPr lang="en-US" sz="825" b="0" i="0" dirty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5148</a:t>
            </a:r>
            <a:endParaRPr sz="825" b="0" i="0" dirty="0">
              <a:solidFill>
                <a:srgbClr val="5B6B8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B67F937-88B4-4E87-9E94-E9F2D4A9B7A4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StyleCons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DB669DE-7000-48BC-87BF-61086C8D9582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E99244E-549A-40A4-BB50-699F9E14F86B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035808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FEDAA4C-ACCE-4D73-B787-997BEBBADE95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956C3C5-4E64-456B-9203-73137D038928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3048000" cy="76200"/>
          </a:xfrm>
          <a:prstGeom prst="rect">
            <a:avLst/>
          </a:prstGeom>
          <a:solidFill>
            <a:srgbClr val="FF6B57"/>
          </a:solidFill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A29B094-7B8C-4CFB-83FF-A3B6A73AD1DD}"/>
              </a:ext>
            </a:extLst>
          </p:cNvPr>
          <p:cNvSpPr>
            <a:spLocks noGrp="1"/>
          </p:cNvSpPr>
          <p:nvPr/>
        </p:nvSpPr>
        <p:spPr>
          <a:xfrm>
            <a:off x="20193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0.7719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B6DB066-3646-4A24-9825-2CC2516E5BED}"/>
              </a:ext>
            </a:extLst>
          </p:cNvPr>
          <p:cNvSpPr>
            <a:spLocks noGrp="1"/>
          </p:cNvSpPr>
          <p:nvPr/>
        </p:nvSpPr>
        <p:spPr>
          <a:xfrm>
            <a:off x="5257800" y="46482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0.7750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E9E394-A856-4CEB-BF19-5D97F32E3AA4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28700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500" b="0" i="1">
                <a:solidFill>
                  <a:srgbClr val="5B6B84"/>
                </a:solidFill>
                <a:latin typeface="Georgia"/>
                <a:ea typeface="Georgia"/>
                <a:cs typeface="Georgia"/>
              </a:defRPr>
            </a:pPr>
            <a:r>
              <a:rPr lang="zh-CN" altLang="en-US" sz="1500" b="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这组数据更跳跃</a:t>
            </a:r>
            <a:r>
              <a:rPr sz="1500" b="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、</a:t>
            </a:r>
            <a:r>
              <a:rPr sz="1500" b="0" i="1" dirty="0" err="1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更无厘头，导致风格信号更分散，LoRA</a:t>
            </a:r>
            <a:r>
              <a:rPr sz="1500" b="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i="1" dirty="0" err="1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更难学出稳定模式</a:t>
            </a:r>
            <a:r>
              <a:rPr sz="1500" b="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6656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C059E63-7400-CD12-5AC3-898963E40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8" y="862064"/>
            <a:ext cx="10137264" cy="561440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9E0E948-3854-EC44-AD85-F99F7ABAC7E1}"/>
              </a:ext>
            </a:extLst>
          </p:cNvPr>
          <p:cNvSpPr/>
          <p:nvPr/>
        </p:nvSpPr>
        <p:spPr>
          <a:xfrm>
            <a:off x="1248629" y="2869324"/>
            <a:ext cx="9837683" cy="8639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9CEFD-82E1-CA32-2E2A-073757A7F467}"/>
              </a:ext>
            </a:extLst>
          </p:cNvPr>
          <p:cNvSpPr/>
          <p:nvPr/>
        </p:nvSpPr>
        <p:spPr>
          <a:xfrm>
            <a:off x="1177158" y="5518982"/>
            <a:ext cx="9837683" cy="8639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132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6D411C-C16E-B0DD-94F9-568FD8D3B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313" y="157654"/>
            <a:ext cx="6303977" cy="641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66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4B7598B9-3C3B-45D7-8A41-8F6B6481B2F7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952E89-1037-437A-BA84-95CB55990BA8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16B56-2B58-4277-9F1C-50C14C6E3DA1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730269-4ADB-40DE-A80A-3BF70FF3A742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4A8343-5F17-4FE1-A45B-B32E53E5141B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B89A06-F1D8-4C27-9D76-F6BFD8F720F2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A64966-5210-4DFB-AEB0-11292D2DD229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C97D22-4D3C-4FC7-BF52-D06FCC13A2AA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A6BE37-FBEF-4F63-96D2-91BA54A13E57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580DEB-2D41-4A1A-BDA6-498ED9E483B6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FD7BE7-C4B0-441B-90B9-90221C6C490C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AED1BC-607F-479A-9882-B1221AC863C2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F2274-42CB-4F95-AD9B-3711C73F5891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1CC320-4E24-42A0-960E-83F1824E63BC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E308DA-A00C-428D-B899-376504AE1B20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消融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： 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带有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history 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通常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效果</a:t>
            </a: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更强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（某</a:t>
            </a:r>
            <a:r>
              <a:rPr lang="zh-CN" altLang="en-US" sz="2400" b="1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老师</a:t>
            </a:r>
            <a:r>
              <a:rPr lang="zh-CN" altLang="en-US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）</a:t>
            </a:r>
            <a:endParaRPr sz="2400" b="1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341340-F023-44DE-BE07-2AF34B9C60CB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做这个消融是因为我担心</a:t>
            </a:r>
            <a:r>
              <a:rPr lang="en-US" altLang="zh-CN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history</a:t>
            </a:r>
            <a:r>
              <a:rPr lang="zh-CN" altLang="en-US" sz="1275" b="0" i="0" dirty="0">
                <a:solidFill>
                  <a:srgbClr val="5B6B84"/>
                </a:solidFill>
                <a:latin typeface="Trebuchet MS"/>
                <a:ea typeface="Trebuchet MS"/>
                <a:cs typeface="Trebuchet MS"/>
              </a:rPr>
              <a:t>的存在可能会使输入变得过于模糊</a:t>
            </a: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8A485E-C77E-40AB-B133-1DE469FF2B6D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2457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B466AB-89C3-4C99-A4BD-1B3EC40A63FC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714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LoRA(no history)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036202-FD8A-40FA-8264-A3BF32126EFD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20955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LoRA(history)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947E10-6D4D-424E-8A8C-47869C23BACA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EmbCos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DEC7CC-480D-4BEF-9912-93485020ECA5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E6AA6-7FA5-4319-B996-3CE308F445BA}"/>
              </a:ext>
            </a:extLst>
          </p:cNvPr>
          <p:cNvSpPr>
            <a:spLocks noGrp="1"/>
          </p:cNvSpPr>
          <p:nvPr/>
        </p:nvSpPr>
        <p:spPr>
          <a:xfrm>
            <a:off x="2019300" y="2838450"/>
            <a:ext cx="1074833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DB5C72-0951-48CC-A164-DBCB16D71D62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C7BA37-D693-4610-B456-6E4ADB81E273}"/>
              </a:ext>
            </a:extLst>
          </p:cNvPr>
          <p:cNvSpPr>
            <a:spLocks noGrp="1"/>
          </p:cNvSpPr>
          <p:nvPr/>
        </p:nvSpPr>
        <p:spPr>
          <a:xfrm>
            <a:off x="5257800" y="2838450"/>
            <a:ext cx="1171479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522049-EBE4-4AB0-8884-1DEEBA9451B6}"/>
              </a:ext>
            </a:extLst>
          </p:cNvPr>
          <p:cNvSpPr>
            <a:spLocks noGrp="1"/>
          </p:cNvSpPr>
          <p:nvPr/>
        </p:nvSpPr>
        <p:spPr>
          <a:xfrm>
            <a:off x="20193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0.3392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D59A5A-2BD0-403B-AC00-D015DD3A83C2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0.3697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87978A-9646-48F7-81DE-4EEBC2D81368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Tone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355F64-30F3-4980-9841-4166704088CD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DCCAB4-2D7B-4B20-974C-4031C6F5BBA8}"/>
              </a:ext>
            </a:extLst>
          </p:cNvPr>
          <p:cNvSpPr>
            <a:spLocks noGrp="1"/>
          </p:cNvSpPr>
          <p:nvPr/>
        </p:nvSpPr>
        <p:spPr>
          <a:xfrm>
            <a:off x="2019300" y="3238500"/>
            <a:ext cx="995931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0B185C-4550-4541-85AB-A2BF78655D2D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C8D81A8-1113-43ED-AC28-CBD03C7ED025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10145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748E12-D057-43C8-A534-FB42AD1F0476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0.3143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68A5387-D4BD-4D6A-AC55-3A6D18A9EEE9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0.3476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779B16-382D-45A7-8E11-601946664608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Fidelity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34786D3-D360-4EA1-99F3-B58542C6C726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9FE745C-A3D2-4326-A8E9-14A0527696D1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814680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E5E225-EBFB-4ACF-9DFA-24CAACA46998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30480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3A1E179-F6DA-41D9-BB4E-B56FA14F0BDD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911326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EE82E42-7757-40AC-BF81-0CB6BEF4A25C}"/>
              </a:ext>
            </a:extLst>
          </p:cNvPr>
          <p:cNvSpPr>
            <a:spLocks noGrp="1"/>
          </p:cNvSpPr>
          <p:nvPr/>
        </p:nvSpPr>
        <p:spPr>
          <a:xfrm>
            <a:off x="20193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0.2571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D84073A-A75F-4A27-8DAC-E52DB669E950}"/>
              </a:ext>
            </a:extLst>
          </p:cNvPr>
          <p:cNvSpPr>
            <a:spLocks noGrp="1"/>
          </p:cNvSpPr>
          <p:nvPr/>
        </p:nvSpPr>
        <p:spPr>
          <a:xfrm>
            <a:off x="5257800" y="3448050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0.2876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C1D3328-8FEF-4F15-BA70-3621F4F607F1}"/>
              </a:ext>
            </a:extLst>
          </p:cNvPr>
          <p:cNvSpPr>
            <a:spLocks noGrp="1"/>
          </p:cNvSpPr>
          <p:nvPr/>
        </p:nvSpPr>
        <p:spPr>
          <a:xfrm>
            <a:off x="2019300" y="4086225"/>
            <a:ext cx="3048000" cy="76200"/>
          </a:xfrm>
          <a:prstGeom prst="rect">
            <a:avLst/>
          </a:prstGeom>
          <a:solidFill>
            <a:srgbClr val="D9E2F0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604D955-4E74-4FE3-BBBE-EDEECD0841CE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287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r>
              <a:rPr lang="zh-CN" altLang="en-US" sz="1275" dirty="0">
                <a:solidFill>
                  <a:srgbClr val="5B6B84"/>
                </a:solidFill>
                <a:latin typeface="Trebuchet MS"/>
              </a:rPr>
              <a:t>结论：</a:t>
            </a:r>
            <a:r>
              <a:rPr sz="1275" dirty="0">
                <a:solidFill>
                  <a:srgbClr val="5B6B84"/>
                </a:solidFill>
                <a:latin typeface="Trebuchet MS"/>
              </a:rPr>
              <a:t>history </a:t>
            </a:r>
            <a:r>
              <a:rPr lang="zh-CN" altLang="en-US" sz="1275" dirty="0">
                <a:solidFill>
                  <a:srgbClr val="5B6B84"/>
                </a:solidFill>
                <a:latin typeface="Trebuchet MS"/>
              </a:rPr>
              <a:t>是有用的</a:t>
            </a:r>
            <a:r>
              <a:rPr sz="1275" dirty="0">
                <a:solidFill>
                  <a:srgbClr val="5B6B84"/>
                </a:solidFill>
                <a:latin typeface="Trebuchet MS"/>
              </a:rPr>
              <a:t>。</a:t>
            </a:r>
            <a:r>
              <a:rPr sz="1275" dirty="0" err="1">
                <a:solidFill>
                  <a:srgbClr val="5B6B84"/>
                </a:solidFill>
                <a:latin typeface="Trebuchet MS"/>
              </a:rPr>
              <a:t>它让模型更容易维持目标人物的语气和表达惯性</a:t>
            </a:r>
            <a:r>
              <a:rPr sz="1275" dirty="0">
                <a:solidFill>
                  <a:srgbClr val="5B6B84"/>
                </a:solidFill>
                <a:latin typeface="Trebuchet MS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2CB2DD-3002-6FB9-02C1-9103DA4A5A92}"/>
              </a:ext>
            </a:extLst>
          </p:cNvPr>
          <p:cNvSpPr>
            <a:spLocks noGrp="1"/>
          </p:cNvSpPr>
          <p:nvPr/>
        </p:nvSpPr>
        <p:spPr>
          <a:xfrm>
            <a:off x="914400" y="3990975"/>
            <a:ext cx="1047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1" i="0">
                <a:solidFill>
                  <a:srgbClr val="14213D"/>
                </a:solidFill>
                <a:latin typeface="Consolas"/>
                <a:ea typeface="Consolas"/>
                <a:cs typeface="Consolas"/>
              </a:defRPr>
            </a:pPr>
            <a:r>
              <a:rPr sz="900" b="1" i="0" dirty="0" err="1">
                <a:solidFill>
                  <a:srgbClr val="14213D"/>
                </a:solidFill>
                <a:latin typeface="Consolas"/>
                <a:ea typeface="Consolas"/>
                <a:cs typeface="Consolas"/>
              </a:rPr>
              <a:t>ModalSim</a:t>
            </a:r>
            <a:endParaRPr sz="900" b="1" i="0" dirty="0">
              <a:solidFill>
                <a:srgbClr val="14213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434FA11-9FD4-C6DC-9512-FEF405EAFBED}"/>
              </a:ext>
            </a:extLst>
          </p:cNvPr>
          <p:cNvSpPr>
            <a:spLocks noGrp="1"/>
          </p:cNvSpPr>
          <p:nvPr/>
        </p:nvSpPr>
        <p:spPr>
          <a:xfrm>
            <a:off x="2019300" y="4086225"/>
            <a:ext cx="2987794" cy="76200"/>
          </a:xfrm>
          <a:prstGeom prst="rect">
            <a:avLst/>
          </a:prstGeom>
          <a:solidFill>
            <a:srgbClr val="69B7FF"/>
          </a:solidFill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C183632-817B-AB81-29E5-94B30F77BADC}"/>
              </a:ext>
            </a:extLst>
          </p:cNvPr>
          <p:cNvSpPr>
            <a:spLocks noGrp="1"/>
          </p:cNvSpPr>
          <p:nvPr/>
        </p:nvSpPr>
        <p:spPr>
          <a:xfrm>
            <a:off x="5257800" y="4086225"/>
            <a:ext cx="30480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CD19A50-9145-1E16-19C5-D5A01A9F07E5}"/>
              </a:ext>
            </a:extLst>
          </p:cNvPr>
          <p:cNvSpPr>
            <a:spLocks noGrp="1"/>
          </p:cNvSpPr>
          <p:nvPr/>
        </p:nvSpPr>
        <p:spPr>
          <a:xfrm>
            <a:off x="2019300" y="3895725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0.9429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B0FFFDF-1AEF-4C9A-EB16-82F267F64DA3}"/>
              </a:ext>
            </a:extLst>
          </p:cNvPr>
          <p:cNvSpPr>
            <a:spLocks noGrp="1"/>
          </p:cNvSpPr>
          <p:nvPr/>
        </p:nvSpPr>
        <p:spPr>
          <a:xfrm>
            <a:off x="5257800" y="3895725"/>
            <a:ext cx="6667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0.9619</a:t>
            </a:r>
          </a:p>
        </p:txBody>
      </p:sp>
    </p:spTree>
    <p:extLst>
      <p:ext uri="{BB962C8B-B14F-4D97-AF65-F5344CB8AC3E}">
        <p14:creationId xmlns:p14="http://schemas.microsoft.com/office/powerpoint/2010/main" val="457942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9ED6F92-0BD6-4929-929F-322EC027BCBB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3C969"/>
                </a:solidFill>
                <a:latin typeface="Consolas"/>
                <a:ea typeface="Consolas"/>
                <a:cs typeface="Consolas"/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FB31D9-78A5-44D5-850D-66CC4D7F659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9525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9F0E39-5F94-49DA-9F8B-B05D4ED7AA02}"/>
              </a:ext>
            </a:extLst>
          </p:cNvPr>
          <p:cNvSpPr>
            <a:spLocks noGrp="1"/>
          </p:cNvSpPr>
          <p:nvPr/>
        </p:nvSpPr>
        <p:spPr>
          <a:xfrm>
            <a:off x="9525000" y="933450"/>
            <a:ext cx="1714500" cy="8191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B54130-370A-44E9-BA96-8CEA99ADF762}"/>
              </a:ext>
            </a:extLst>
          </p:cNvPr>
          <p:cNvSpPr>
            <a:spLocks noGrp="1"/>
          </p:cNvSpPr>
          <p:nvPr/>
        </p:nvSpPr>
        <p:spPr>
          <a:xfrm>
            <a:off x="10287000" y="1428750"/>
            <a:ext cx="876300" cy="476250"/>
          </a:xfrm>
          <a:prstGeom prst="rect">
            <a:avLst/>
          </a:prstGeom>
          <a:solidFill>
            <a:srgbClr val="E8F1FB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160AFE-2B28-4ACA-B354-B36B8FE6297F}"/>
              </a:ext>
            </a:extLst>
          </p:cNvPr>
          <p:cNvSpPr>
            <a:spLocks noGrp="1"/>
          </p:cNvSpPr>
          <p:nvPr/>
        </p:nvSpPr>
        <p:spPr>
          <a:xfrm>
            <a:off x="93345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27E8CD-7E15-4266-9172-CD50001B41C1}"/>
              </a:ext>
            </a:extLst>
          </p:cNvPr>
          <p:cNvSpPr>
            <a:spLocks noGrp="1"/>
          </p:cNvSpPr>
          <p:nvPr/>
        </p:nvSpPr>
        <p:spPr>
          <a:xfrm>
            <a:off x="95059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F726D2-A04A-497D-AB90-F3C197228EA1}"/>
              </a:ext>
            </a:extLst>
          </p:cNvPr>
          <p:cNvSpPr>
            <a:spLocks noGrp="1"/>
          </p:cNvSpPr>
          <p:nvPr/>
        </p:nvSpPr>
        <p:spPr>
          <a:xfrm>
            <a:off x="96774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31D66B-36DF-47F3-90F0-DBC1AE3A451C}"/>
              </a:ext>
            </a:extLst>
          </p:cNvPr>
          <p:cNvSpPr>
            <a:spLocks noGrp="1"/>
          </p:cNvSpPr>
          <p:nvPr/>
        </p:nvSpPr>
        <p:spPr>
          <a:xfrm>
            <a:off x="98488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B64587-4471-4C8D-B048-9E91DC6B33BD}"/>
              </a:ext>
            </a:extLst>
          </p:cNvPr>
          <p:cNvSpPr>
            <a:spLocks noGrp="1"/>
          </p:cNvSpPr>
          <p:nvPr/>
        </p:nvSpPr>
        <p:spPr>
          <a:xfrm>
            <a:off x="100203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6BBA78-8861-42C4-AF09-DF556E2DF748}"/>
              </a:ext>
            </a:extLst>
          </p:cNvPr>
          <p:cNvSpPr>
            <a:spLocks noGrp="1"/>
          </p:cNvSpPr>
          <p:nvPr/>
        </p:nvSpPr>
        <p:spPr>
          <a:xfrm>
            <a:off x="10191750" y="5905500"/>
            <a:ext cx="76200" cy="7620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FD7664-2F08-4195-8207-80F4CE971FF0}"/>
              </a:ext>
            </a:extLst>
          </p:cNvPr>
          <p:cNvSpPr>
            <a:spLocks noGrp="1"/>
          </p:cNvSpPr>
          <p:nvPr/>
        </p:nvSpPr>
        <p:spPr>
          <a:xfrm>
            <a:off x="10363200" y="5905500"/>
            <a:ext cx="76200" cy="7620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E48724-31CE-4EA7-AC50-3724E88716B0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066800" cy="19050"/>
          </a:xfrm>
          <a:prstGeom prst="rect">
            <a:avLst/>
          </a:prstGeom>
          <a:solidFill>
            <a:srgbClr val="F3C969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977F4B-838A-4260-99C4-F32DC3F55434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137160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B373D2-DADE-4EF5-BC29-7C21D44603A6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895350" cy="19050"/>
          </a:xfrm>
          <a:prstGeom prst="rect">
            <a:avLst/>
          </a:prstGeom>
          <a:solidFill>
            <a:srgbClr val="D9E2F0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C89B28-82C2-42A7-8D65-D305F88D8544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8191500" cy="685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400" b="1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如何解释</a:t>
            </a:r>
            <a:r>
              <a:rPr lang="en-US"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W</a:t>
            </a:r>
            <a:r>
              <a:rPr lang="en-US" altLang="zh-CN" sz="2400" b="1" i="0" dirty="0" err="1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in</a:t>
            </a:r>
            <a:r>
              <a:rPr lang="en-US" altLang="zh-CN"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 Rate</a:t>
            </a:r>
            <a:r>
              <a:rPr sz="2400" b="1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下降？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683A35-9C80-4E5D-B3D0-509C43FB6330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239000" cy="552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275" b="0" i="0">
                <a:solidFill>
                  <a:srgbClr val="5B6B84"/>
                </a:solidFill>
                <a:latin typeface="Trebuchet MS"/>
                <a:ea typeface="Trebuchet MS"/>
                <a:cs typeface="Trebuchet MS"/>
              </a:defRPr>
            </a:pPr>
            <a:endParaRPr sz="1275" b="0" i="0" dirty="0">
              <a:solidFill>
                <a:srgbClr val="5B6B84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2B72F7-6B7E-432F-9705-039A0A5D8FF9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5143500" cy="3143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007CEE-70B5-4603-A2EB-963FF3AB1503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4497114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9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altLang="zh-CN" sz="1950" b="1" dirty="0"/>
              <a:t>Tone</a:t>
            </a:r>
            <a:r>
              <a:rPr lang="zh-CN" altLang="en-US" sz="1950" b="1" dirty="0"/>
              <a:t>、</a:t>
            </a:r>
            <a:r>
              <a:rPr lang="en-US" altLang="zh-CN" sz="1950" b="1" dirty="0"/>
              <a:t> Semantic</a:t>
            </a:r>
            <a:r>
              <a:rPr lang="zh-CN" altLang="en-US" sz="1950" b="1" dirty="0"/>
              <a:t>、</a:t>
            </a:r>
            <a:r>
              <a:rPr lang="en-US" altLang="zh-CN" sz="1950" b="1" dirty="0"/>
              <a:t> Fidelity</a:t>
            </a:r>
            <a:endParaRPr sz="1950" b="1" i="0" dirty="0">
              <a:solidFill>
                <a:srgbClr val="69B7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5B7525-2482-4233-B0A0-E5CF14CBC57F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4114800" cy="1695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zh-CN" dirty="0"/>
              <a:t>语气</a:t>
            </a:r>
            <a:endParaRPr lang="en-US" altLang="zh-CN" dirty="0"/>
          </a:p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合理度</a:t>
            </a:r>
            <a:endParaRPr lang="en-US" altLang="zh-CN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zh-CN" dirty="0"/>
              <a:t>是否体现目标人物的表达习惯、情绪风格和个人特征。</a:t>
            </a:r>
            <a:endParaRPr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255846-8F73-4946-A026-41033C330B6F}"/>
              </a:ext>
            </a:extLst>
          </p:cNvPr>
          <p:cNvSpPr>
            <a:spLocks noGrp="1"/>
          </p:cNvSpPr>
          <p:nvPr/>
        </p:nvSpPr>
        <p:spPr>
          <a:xfrm>
            <a:off x="5981700" y="2381250"/>
            <a:ext cx="5676900" cy="3143250"/>
          </a:xfrm>
          <a:prstGeom prst="rect">
            <a:avLst/>
          </a:prstGeom>
          <a:solidFill>
            <a:srgbClr val="F5F8FD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0593FA-615E-40EB-ABDE-EE23C9C2CF3B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3371850" cy="2476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9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altLang="zh-CN" sz="1950" b="1" dirty="0" err="1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W</a:t>
            </a:r>
            <a:r>
              <a:rPr lang="en-US" altLang="zh-CN" sz="1950" b="1" i="0" dirty="0" err="1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inrate</a:t>
            </a:r>
            <a:endParaRPr sz="1950" b="1" i="0" dirty="0">
              <a:solidFill>
                <a:srgbClr val="56F0C6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592CE77-3B19-49AE-B7DE-0DAD3BCB6CCD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4667250" cy="1695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你觉得基座模型和微调模型谁的回复更</a:t>
            </a:r>
            <a:r>
              <a:rPr lang="zh-CN" altLang="en-US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判断哪一条更接近真实回复所体现的目标人物风格？</a:t>
            </a:r>
            <a:endParaRPr lang="en-US" altLang="zh-CN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endParaRPr lang="en-US" altLang="zh-CN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怎么衡量人物风格？</a:t>
            </a: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基座模型回复得更长</a:t>
            </a:r>
            <a:endParaRPr lang="en-US" altLang="zh-CN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endParaRPr lang="en-US" altLang="zh-CN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  <a:p>
            <a:pPr algn="l">
              <a:defRPr sz="1800" b="0" i="0">
                <a:solidFill>
                  <a:srgbClr val="14213D"/>
                </a:solidFill>
                <a:latin typeface="Trebuchet MS"/>
                <a:ea typeface="Trebuchet MS"/>
                <a:cs typeface="Trebuchet MS"/>
              </a:defRPr>
            </a:pP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大模型：更长的回复（更全面</a:t>
            </a:r>
            <a:r>
              <a:rPr lang="zh-CN" altLang="en-US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）</a:t>
            </a:r>
            <a:r>
              <a:rPr lang="en-US" altLang="zh-CN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=</a:t>
            </a:r>
            <a:r>
              <a:rPr lang="zh-CN" altLang="en-US" sz="1800" b="0" i="0" dirty="0">
                <a:solidFill>
                  <a:srgbClr val="14213D"/>
                </a:solidFill>
                <a:latin typeface="Trebuchet MS"/>
                <a:ea typeface="Trebuchet MS"/>
                <a:cs typeface="Trebuchet MS"/>
              </a:rPr>
              <a:t>更好的回复</a:t>
            </a:r>
            <a:endParaRPr lang="en-US" altLang="zh-CN" sz="1800" b="0" i="0" dirty="0">
              <a:solidFill>
                <a:srgbClr val="14213D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00606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7796-5F3B-B487-1E0D-C1A6684A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E1B6494-92E1-383E-AA34-347B3FEA5F50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11277600" cy="6057900"/>
          </a:xfrm>
          <a:prstGeom prst="rect">
            <a:avLst/>
          </a:prstGeom>
          <a:solidFill>
            <a:srgbClr val="EEF3FA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51B2D7-E0F3-A732-6030-BED85209CE8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9050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56F0C6"/>
                </a:solidFill>
                <a:latin typeface="Consolas"/>
                <a:ea typeface="Consolas"/>
                <a:cs typeface="Consolas"/>
              </a:rPr>
              <a:t>COURSE PROJECT / PERSONALITY CHAT EVALUATION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D995B8-B635-A4E0-FAFA-2EDBE7292F4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866900" cy="38100"/>
          </a:xfrm>
          <a:prstGeom prst="rect">
            <a:avLst/>
          </a:prstGeom>
          <a:solidFill>
            <a:srgbClr val="56F0C6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7D863C-0651-3775-586C-3B5EF03F4C12}"/>
              </a:ext>
            </a:extLst>
          </p:cNvPr>
          <p:cNvSpPr>
            <a:spLocks noGrp="1"/>
          </p:cNvSpPr>
          <p:nvPr/>
        </p:nvSpPr>
        <p:spPr>
          <a:xfrm>
            <a:off x="830974" y="2019300"/>
            <a:ext cx="6096000" cy="8001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0" i="1">
                <a:solidFill>
                  <a:srgbClr val="5B6B84"/>
                </a:solidFill>
                <a:latin typeface="Georgia"/>
                <a:ea typeface="Georgia"/>
                <a:cs typeface="Georgia"/>
              </a:defRPr>
            </a:pPr>
            <a:r>
              <a:rPr lang="zh-CN" altLang="en-US" sz="7200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恳请批评指正</a:t>
            </a:r>
            <a:endParaRPr sz="7200" b="0" i="1" dirty="0">
              <a:solidFill>
                <a:srgbClr val="5B6B84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2A651C-C43E-F707-A178-AEC6602B8CF9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73B12C-2DDE-903B-4877-764C3EFA8616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TARGET PERSONAS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BD2D74-2835-10CF-EF90-FB521208C054}"/>
              </a:ext>
            </a:extLst>
          </p:cNvPr>
          <p:cNvSpPr>
            <a:spLocks noGrp="1"/>
          </p:cNvSpPr>
          <p:nvPr/>
        </p:nvSpPr>
        <p:spPr>
          <a:xfrm>
            <a:off x="9144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69B7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7CE8D2-B5AE-D1FB-5620-69AFF19ADE69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50495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lang="zh-CN" altLang="en-US" sz="90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某</a:t>
            </a:r>
            <a:r>
              <a:rPr sz="900" b="0" i="0" dirty="0" err="1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老师</a:t>
            </a:r>
            <a:r>
              <a:rPr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lang="zh-CN" altLang="en-US" sz="90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某同学</a:t>
            </a:r>
            <a:r>
              <a:rPr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lang="zh-CN" altLang="en-US" sz="900" b="0" i="0" dirty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某亲人</a:t>
            </a:r>
            <a:endParaRPr sz="900" b="0" i="0" dirty="0">
              <a:solidFill>
                <a:srgbClr val="7F90A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BA46EC-8C20-F008-7978-1E52754890BB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79EB0A-9D96-E3A3-5879-FDC56A15B85C}"/>
              </a:ext>
            </a:extLst>
          </p:cNvPr>
          <p:cNvSpPr>
            <a:spLocks noGrp="1"/>
          </p:cNvSpPr>
          <p:nvPr/>
        </p:nvSpPr>
        <p:spPr>
          <a:xfrm>
            <a:off x="27813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TOTAL SAMPLES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040A76-D780-8EAE-C3DA-652080964D27}"/>
              </a:ext>
            </a:extLst>
          </p:cNvPr>
          <p:cNvSpPr>
            <a:spLocks noGrp="1"/>
          </p:cNvSpPr>
          <p:nvPr/>
        </p:nvSpPr>
        <p:spPr>
          <a:xfrm>
            <a:off x="27813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56F0C6"/>
                </a:solidFill>
                <a:latin typeface="Trebuchet MS"/>
                <a:ea typeface="Trebuchet MS"/>
                <a:cs typeface="Trebuchet MS"/>
              </a:rPr>
              <a:t>6251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CF362B-01AC-4E05-8178-FEABBF751DC7}"/>
              </a:ext>
            </a:extLst>
          </p:cNvPr>
          <p:cNvSpPr>
            <a:spLocks noGrp="1"/>
          </p:cNvSpPr>
          <p:nvPr/>
        </p:nvSpPr>
        <p:spPr>
          <a:xfrm>
            <a:off x="2781300" y="5676900"/>
            <a:ext cx="1295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train + test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CBB20C-1F20-E8D3-F9A1-59FF7AF9379F}"/>
              </a:ext>
            </a:extLst>
          </p:cNvPr>
          <p:cNvSpPr>
            <a:spLocks noGrp="1"/>
          </p:cNvSpPr>
          <p:nvPr/>
        </p:nvSpPr>
        <p:spPr>
          <a:xfrm>
            <a:off x="4438650" y="4953000"/>
            <a:ext cx="1714500" cy="1047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0C8225-D031-6953-16D4-2A5D4BFE0516}"/>
              </a:ext>
            </a:extLst>
          </p:cNvPr>
          <p:cNvSpPr>
            <a:spLocks noGrp="1"/>
          </p:cNvSpPr>
          <p:nvPr/>
        </p:nvSpPr>
        <p:spPr>
          <a:xfrm>
            <a:off x="4648200" y="5124450"/>
            <a:ext cx="12954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B6B84"/>
                </a:solidFill>
                <a:latin typeface="Consolas"/>
                <a:ea typeface="Consolas"/>
                <a:cs typeface="Consolas"/>
              </a:rPr>
              <a:t>MODEL BASE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4BFEB9-51F9-E777-9605-73A3473F52CB}"/>
              </a:ext>
            </a:extLst>
          </p:cNvPr>
          <p:cNvSpPr>
            <a:spLocks noGrp="1"/>
          </p:cNvSpPr>
          <p:nvPr/>
        </p:nvSpPr>
        <p:spPr>
          <a:xfrm>
            <a:off x="4648200" y="5372100"/>
            <a:ext cx="1295400" cy="4953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 i="0">
                <a:solidFill>
                  <a:srgbClr val="FF6B57"/>
                </a:solidFill>
                <a:latin typeface="Trebuchet MS"/>
                <a:ea typeface="Trebuchet MS"/>
                <a:cs typeface="Trebuchet MS"/>
              </a:rPr>
              <a:t>Qwen2.5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EC0F32-5EE3-EA80-898E-1830417DFF4C}"/>
              </a:ext>
            </a:extLst>
          </p:cNvPr>
          <p:cNvSpPr>
            <a:spLocks noGrp="1"/>
          </p:cNvSpPr>
          <p:nvPr/>
        </p:nvSpPr>
        <p:spPr>
          <a:xfrm>
            <a:off x="4648200" y="5676900"/>
            <a:ext cx="1295400" cy="1714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7F90AA"/>
                </a:solidFill>
                <a:latin typeface="Consolas"/>
                <a:ea typeface="Consolas"/>
                <a:cs typeface="Consolas"/>
              </a:rPr>
              <a:t>7B Instruct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D52847-96D7-2025-7960-097BBD255DCE}"/>
              </a:ext>
            </a:extLst>
          </p:cNvPr>
          <p:cNvSpPr>
            <a:spLocks noGrp="1"/>
          </p:cNvSpPr>
          <p:nvPr/>
        </p:nvSpPr>
        <p:spPr>
          <a:xfrm>
            <a:off x="8001000" y="1066800"/>
            <a:ext cx="3086100" cy="43624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7487977-C262-844A-1C75-28B3A250D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331" y="1066800"/>
            <a:ext cx="3271838" cy="4362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4DB6C4D-536B-97A8-055D-4E720E68CB14}"/>
              </a:ext>
            </a:extLst>
          </p:cNvPr>
          <p:cNvSpPr>
            <a:spLocks noGrp="1"/>
          </p:cNvSpPr>
          <p:nvPr/>
        </p:nvSpPr>
        <p:spPr>
          <a:xfrm>
            <a:off x="1978704" y="3543300"/>
            <a:ext cx="6096000" cy="8001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800" b="0" i="1">
                <a:solidFill>
                  <a:srgbClr val="5B6B84"/>
                </a:solidFill>
                <a:latin typeface="Georgia"/>
                <a:ea typeface="Georgia"/>
                <a:cs typeface="Georgia"/>
              </a:defRPr>
            </a:pPr>
            <a:r>
              <a:rPr lang="zh-CN" altLang="en-US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经济学院      </a:t>
            </a:r>
            <a:r>
              <a:rPr lang="en-US" altLang="zh-CN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2210644 </a:t>
            </a:r>
            <a:r>
              <a:rPr lang="zh-CN" altLang="en-US" i="1" dirty="0">
                <a:solidFill>
                  <a:srgbClr val="5B6B84"/>
                </a:solidFill>
                <a:latin typeface="Georgia"/>
                <a:ea typeface="Georgia"/>
                <a:cs typeface="Georgia"/>
              </a:rPr>
              <a:t>刘沛毓</a:t>
            </a:r>
            <a:endParaRPr sz="1800" b="0" i="1" dirty="0">
              <a:solidFill>
                <a:srgbClr val="5B6B84"/>
              </a:solidFill>
              <a:latin typeface="Georgia"/>
              <a:ea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3245369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5480</TotalTime>
  <Words>1731</Words>
  <Application>Microsoft Office PowerPoint</Application>
  <DocSecurity>0</DocSecurity>
  <PresentationFormat>宽屏</PresentationFormat>
  <Paragraphs>451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Calibri</vt:lpstr>
      <vt:lpstr>Consolas</vt:lpstr>
      <vt:lpstr>Georgia</vt:lpstr>
      <vt:lpstr>Trebuchet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沛毓 刘</cp:lastModifiedBy>
  <cp:revision>39</cp:revision>
  <cp:lastPrinted>2026-05-18T11:54:57Z</cp:lastPrinted>
  <dcterms:created xsi:type="dcterms:W3CDTF">2026-05-05T11:42:58Z</dcterms:created>
  <dcterms:modified xsi:type="dcterms:W3CDTF">2026-05-27T05:57:23Z</dcterms:modified>
</cp:coreProperties>
</file>